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b6036a6844693" /><Relationship Type="http://schemas.openxmlformats.org/officeDocument/2006/relationships/extended-properties" Target="/docProps/app.xml" Id="R04b7a763e8fe438d" /><Relationship Type="http://schemas.openxmlformats.org/officeDocument/2006/relationships/officeDocument" Target="/ppt/presentation.xml" Id="Re54644ff44dd4e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ab76ac8704445"/>
  </p:sldMasterIdLst>
  <p:notesMasterIdLst>
    <p:notesMasterId xmlns:r="http://schemas.openxmlformats.org/officeDocument/2006/relationships" r:id="R0c574af4a4f84fd8"/>
  </p:notesMasterIdLst>
  <p:sldIdLst>
    <p:sldId xmlns:r="http://schemas.openxmlformats.org/officeDocument/2006/relationships" id="256" r:id="Rc6382a142baf4134"/>
    <p:sldId xmlns:r="http://schemas.openxmlformats.org/officeDocument/2006/relationships" id="257" r:id="R8543b863222645c3"/>
    <p:sldId xmlns:r="http://schemas.openxmlformats.org/officeDocument/2006/relationships" id="258" r:id="R170b63d294034d18"/>
    <p:sldId xmlns:r="http://schemas.openxmlformats.org/officeDocument/2006/relationships" id="259" r:id="Rb7c4ac31a7644589"/>
    <p:sldId xmlns:r="http://schemas.openxmlformats.org/officeDocument/2006/relationships" id="260" r:id="R11cb08d2ce914526"/>
    <p:sldId xmlns:r="http://schemas.openxmlformats.org/officeDocument/2006/relationships" id="261" r:id="R331b4bf6d7644cce"/>
    <p:sldId xmlns:r="http://schemas.openxmlformats.org/officeDocument/2006/relationships" id="262" r:id="Rbe108a56ec684ebe"/>
    <p:sldId xmlns:r="http://schemas.openxmlformats.org/officeDocument/2006/relationships" id="263" r:id="R8b0077ae91cc4234"/>
    <p:sldId xmlns:r="http://schemas.openxmlformats.org/officeDocument/2006/relationships" id="264" r:id="Rf815aad826554eff"/>
    <p:sldId xmlns:r="http://schemas.openxmlformats.org/officeDocument/2006/relationships" id="265" r:id="R022e49dd78d24580"/>
    <p:sldId xmlns:r="http://schemas.openxmlformats.org/officeDocument/2006/relationships" id="266" r:id="R5324593e363c4010"/>
    <p:sldId xmlns:r="http://schemas.openxmlformats.org/officeDocument/2006/relationships" id="267" r:id="Re509d50aa000426b"/>
    <p:sldId xmlns:r="http://schemas.openxmlformats.org/officeDocument/2006/relationships" id="268" r:id="Rfc3678841f114b7c"/>
    <p:sldId xmlns:r="http://schemas.openxmlformats.org/officeDocument/2006/relationships" id="269" r:id="R55edc8be5b2a4f1f"/>
    <p:sldId xmlns:r="http://schemas.openxmlformats.org/officeDocument/2006/relationships" id="270" r:id="R74ccc2652c74410f"/>
    <p:sldId xmlns:r="http://schemas.openxmlformats.org/officeDocument/2006/relationships" id="271" r:id="Rbf767cd3fba449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9702993e2746da" /><Relationship Type="http://schemas.openxmlformats.org/officeDocument/2006/relationships/slideMaster" Target="/ppt/slideMasters/slideMaster1.xml" Id="R8ccab76ac8704445" /><Relationship Type="http://schemas.openxmlformats.org/officeDocument/2006/relationships/notesMaster" Target="/ppt/notesMasters/notesMaster1.xml" Id="R0c574af4a4f84fd8" /><Relationship Type="http://schemas.openxmlformats.org/officeDocument/2006/relationships/presProps" Target="/ppt/presProps.xml" Id="Ra93bf2f6276949b0" /><Relationship Type="http://schemas.openxmlformats.org/officeDocument/2006/relationships/tableStyles" Target="/ppt/tableStyles.xml" Id="R3e44ed0656a2489a" /><Relationship Type="http://schemas.openxmlformats.org/officeDocument/2006/relationships/slide" Target="/ppt/slides/slide1.xml" Id="Rc6382a142baf4134" /><Relationship Type="http://schemas.openxmlformats.org/officeDocument/2006/relationships/slide" Target="/ppt/slides/slide2.xml" Id="R8543b863222645c3" /><Relationship Type="http://schemas.openxmlformats.org/officeDocument/2006/relationships/slide" Target="/ppt/slides/slide3.xml" Id="R170b63d294034d18" /><Relationship Type="http://schemas.openxmlformats.org/officeDocument/2006/relationships/slide" Target="/ppt/slides/slide4.xml" Id="Rb7c4ac31a7644589" /><Relationship Type="http://schemas.openxmlformats.org/officeDocument/2006/relationships/slide" Target="/ppt/slides/slide5.xml" Id="R11cb08d2ce914526" /><Relationship Type="http://schemas.openxmlformats.org/officeDocument/2006/relationships/slide" Target="/ppt/slides/slide6.xml" Id="R331b4bf6d7644cce" /><Relationship Type="http://schemas.openxmlformats.org/officeDocument/2006/relationships/slide" Target="/ppt/slides/slide7.xml" Id="Rbe108a56ec684ebe" /><Relationship Type="http://schemas.openxmlformats.org/officeDocument/2006/relationships/slide" Target="/ppt/slides/slide8.xml" Id="R8b0077ae91cc4234" /><Relationship Type="http://schemas.openxmlformats.org/officeDocument/2006/relationships/slide" Target="/ppt/slides/slide9.xml" Id="Rf815aad826554eff" /><Relationship Type="http://schemas.openxmlformats.org/officeDocument/2006/relationships/slide" Target="/ppt/slides/slide10.xml" Id="R022e49dd78d24580" /><Relationship Type="http://schemas.openxmlformats.org/officeDocument/2006/relationships/slide" Target="/ppt/slides/slide11.xml" Id="R5324593e363c4010" /><Relationship Type="http://schemas.openxmlformats.org/officeDocument/2006/relationships/slide" Target="/ppt/slides/slide12.xml" Id="Re509d50aa000426b" /><Relationship Type="http://schemas.openxmlformats.org/officeDocument/2006/relationships/slide" Target="/ppt/slides/slide13.xml" Id="Rfc3678841f114b7c" /><Relationship Type="http://schemas.openxmlformats.org/officeDocument/2006/relationships/slide" Target="/ppt/slides/slide14.xml" Id="R55edc8be5b2a4f1f" /><Relationship Type="http://schemas.openxmlformats.org/officeDocument/2006/relationships/slide" Target="/ppt/slides/slide15.xml" Id="R74ccc2652c74410f" /><Relationship Type="http://schemas.openxmlformats.org/officeDocument/2006/relationships/slide" Target="/ppt/slides/slide16.xml" Id="Rbf767cd3fba4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c8cad56886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5d1a8d6314350" /><Relationship Type="http://schemas.openxmlformats.org/officeDocument/2006/relationships/notesMaster" Target="/ppt/notesMasters/notesMaster1.xml" Id="R3242a84f53fd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c485490464b8b" /><Relationship Type="http://schemas.openxmlformats.org/officeDocument/2006/relationships/notesMaster" Target="/ppt/notesMasters/notesMaster1.xml" Id="Rb23ab5276853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04ab5d943441f" /><Relationship Type="http://schemas.openxmlformats.org/officeDocument/2006/relationships/notesMaster" Target="/ppt/notesMasters/notesMaster1.xml" Id="Rde6cbdd655ee40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bc80ce86e4fe2" /><Relationship Type="http://schemas.openxmlformats.org/officeDocument/2006/relationships/notesMaster" Target="/ppt/notesMasters/notesMaster1.xml" Id="R18ee9aedb9a9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a4021b98e44bbd" /><Relationship Type="http://schemas.openxmlformats.org/officeDocument/2006/relationships/notesMaster" Target="/ppt/notesMasters/notesMaster1.xml" Id="Rfe1c1e183a8b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3eb4e4175d4ef1" /><Relationship Type="http://schemas.openxmlformats.org/officeDocument/2006/relationships/notesMaster" Target="/ppt/notesMasters/notesMaster1.xml" Id="R9ce06c2fa9c74a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7125efcf9e419c" /><Relationship Type="http://schemas.openxmlformats.org/officeDocument/2006/relationships/notesMaster" Target="/ppt/notesMasters/notesMaster1.xml" Id="R6242f5639920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334771b6c45ab" /><Relationship Type="http://schemas.openxmlformats.org/officeDocument/2006/relationships/notesMaster" Target="/ppt/notesMasters/notesMaster1.xml" Id="R02fe7e90543e42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144899816944d1" /><Relationship Type="http://schemas.openxmlformats.org/officeDocument/2006/relationships/notesMaster" Target="/ppt/notesMasters/notesMaster1.xml" Id="R32a8a208cfdd41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86e2d13f24884" /><Relationship Type="http://schemas.openxmlformats.org/officeDocument/2006/relationships/notesMaster" Target="/ppt/notesMasters/notesMaster1.xml" Id="R4a535015d42843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a637a91d64e9b" /><Relationship Type="http://schemas.openxmlformats.org/officeDocument/2006/relationships/notesMaster" Target="/ppt/notesMasters/notesMaster1.xml" Id="R844180c1ef3347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5808602b794be2" /><Relationship Type="http://schemas.openxmlformats.org/officeDocument/2006/relationships/notesMaster" Target="/ppt/notesMasters/notesMaster1.xml" Id="R72ce6300ae4343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7d3e706354137" /><Relationship Type="http://schemas.openxmlformats.org/officeDocument/2006/relationships/notesMaster" Target="/ppt/notesMasters/notesMaster1.xml" Id="R53884879f39948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c5ee039672445b" /><Relationship Type="http://schemas.openxmlformats.org/officeDocument/2006/relationships/notesMaster" Target="/ppt/notesMasters/notesMaster1.xml" Id="R1a62c48bb3824e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c6b4e55df747a9" /><Relationship Type="http://schemas.openxmlformats.org/officeDocument/2006/relationships/notesMaster" Target="/ppt/notesMasters/notesMaster1.xml" Id="Raa9824d007394c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fe5ec5225b4906" /><Relationship Type="http://schemas.openxmlformats.org/officeDocument/2006/relationships/notesMaster" Target="/ppt/notesMasters/notesMaster1.xml" Id="R35c755536c1d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Исследовательская презентация для команды из 5 человек. Основание: README.md и материалы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S05: Взрослые США, которые оплатили бы экстренный расход $400 только наличными или их эквивалентом; 63%; 2024-10-18/2024-10-31; https://www.federalreserve.gov/publications/2025-economic-well-being-of-us-households-in-2024-executive-summary.htm; США и гипотетический экстренный расход, не российская плановая покупка. Не использовать для российского TAM, конверсии или спроса.</a:t>
            </a:r>
          </a:p>
          <a:p xmlns:a="http://schemas.openxmlformats.org/drawingml/2006/main">
            <a:r>
              <a:t>S07: Взрослые Великобритании 25-34 лет с низкой финансовой устойчивостью; 32%; 2024-02-05/2024-06-16; https://www.fca.org.uk/publication/financial-lives/fls-2024-vulnerability-financial-resilience.pdf; Значение приведено на возрастном графике FCA. Возраст близок к целевому, но страна, доходы, продукты и социальная защита отличаются от России; это не оценка спроса на финансового помощника.</a:t>
            </a:r>
          </a:p>
          <a:p xmlns:a="http://schemas.openxmlformats.org/drawingml/2006/main">
            <a:r>
              <a:t>S08: Взрослые, способные покрыть крупный расход в размере месячного дохода без займа или помощи близких; 54%; 2022; для части стран использованы данные 2021 года; https://www.oecd.org/content/dam/oecd/en/publications/reports/2023/12/oecd-infe-2023-international-survey-of-adult-financial-literacy_8ce94e2c/56003a32-en.pdf; Международное среднее и вопрос о финансовом шоке, не российский показатель и не вопрос о покупке. Не использовать как долю целевой аудитории.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S01: Россияне 18-34 лет с низким уровнем финансовой грамотности; 51%; 1 003 россиянина 18+; НАФИ заявляет репрезентативность по полу, возрасту, федеральному округу, типу населенного пункта и образованию; погрешность не более 3%; https://nafi.ru/polls/indeks-finansovoy-gramotnosti-2025-rossiyane-stali-khuzhe-schitat-protsenty/</a:t>
            </a:r>
          </a:p>
          <a:p xmlns:a="http://schemas.openxmlformats.org/drawingml/2006/main">
            <a:r>
              <a:t>S02: Россияне с финансовой подушкой минимум на три месяца обязательных расходов; 34%; 1 003 россиянина 18+; НАФИ заявляет всероссийскую репрезентативность и погрешность не более 3%; https://nafi.ru/polls/indeks-finansovoy-gramotnosti-2025-rossiyane-stali-khuzhe-schitat-protsenty/</a:t>
            </a:r>
          </a:p>
          <a:p xmlns:a="http://schemas.openxmlformats.org/drawingml/2006/main">
            <a:r>
              <a:t>НАФИ также сообщает: 80% заранее обдумывают покупки, 70% ведут семейный бюджет. Декларации не измеряют регулярность или качество учета.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https://web.meetcleo.com/faqs/en/articles/13727802-what-is-autopilot</a:t>
            </a:r>
          </a:p>
          <a:p xmlns:a="http://schemas.openxmlformats.org/drawingml/2006/main">
            <a:r>
              <a:t>https://web.meetcleo.com/faqs/en/articles/8124868-what-can-t-cleo-do</a:t>
            </a:r>
          </a:p>
          <a:p xmlns:a="http://schemas.openxmlformats.org/drawingml/2006/main">
            <a:r>
              <a:t>https://web.meetcleo.com/pricing</a:t>
            </a:r>
          </a:p>
          <a:p xmlns:a="http://schemas.openxmlformats.org/drawingml/2006/main">
            <a:r>
              <a:t>https://pocketguard.com/</a:t>
            </a:r>
          </a:p>
          <a:p xmlns:a="http://schemas.openxmlformats.org/drawingml/2006/main">
            <a:r>
              <a:t>https://pocketguard.com/pricing/</a:t>
            </a:r>
          </a:p>
          <a:p xmlns:a="http://schemas.openxmlformats.org/drawingml/2006/main">
            <a:r>
              <a:t>https://pocketguard.com/what-is-pocketguard/</a:t>
            </a:r>
          </a:p>
          <a:p xmlns:a="http://schemas.openxmlformats.org/drawingml/2006/main">
            <a:r>
              <a:t>https://www.ynab.com/pricing/</a:t>
            </a:r>
          </a:p>
          <a:p xmlns:a="http://schemas.openxmlformats.org/drawingml/2006/main">
            <a:r>
              <a:t>https://support.ynab.com/en_us/direct-import-in-europe-Syae1z_A9</a:t>
            </a:r>
          </a:p>
          <a:p xmlns:a="http://schemas.openxmlformats.org/drawingml/2006/main">
            <a:r>
              <a:t>https://partners.monarchmoney.com/pricing</a:t>
            </a:r>
          </a:p>
          <a:p xmlns:a="http://schemas.openxmlformats.org/drawingml/2006/main">
            <a:r>
              <a:t>https://help.monarchmoney.com/hc/en-us/articles/360048883631-Budget</a:t>
            </a:r>
          </a:p>
          <a:p xmlns:a="http://schemas.openxmlformats.org/drawingml/2006/main">
            <a:r>
              <a:t>https://www.copilot.money/</a:t>
            </a:r>
          </a:p>
          <a:p xmlns:a="http://schemas.openxmlformats.org/drawingml/2006/main">
            <a:r>
              <a:t>https://www.copilot.money/faq</a:t>
            </a:r>
          </a:p>
          <a:p xmlns:a="http://schemas.openxmlformats.org/drawingml/2006/main">
            <a:r>
              <a:t>https://support.simplifi.quicken.com/en/articles/3363727-quicken-simplifi-subscription-questions</a:t>
            </a:r>
          </a:p>
          <a:p xmlns:a="http://schemas.openxmlformats.org/drawingml/2006/main">
            <a:r>
              <a:t>https://www.quicken.com/products/simplifi/</a:t>
            </a:r>
          </a:p>
          <a:p xmlns:a="http://schemas.openxmlformats.org/drawingml/2006/main">
            <a:r>
              <a:t>https://www.quicken.com/products/pricing-comparison/</a:t>
            </a:r>
          </a:p>
          <a:p xmlns:a="http://schemas.openxmlformats.org/drawingml/2006/main">
            <a:r>
              <a:t>https://support.simplifi.quicken.com/en/articles/4212702-understanding-your-spending-plan</a:t>
            </a:r>
          </a:p>
          <a:p xmlns:a="http://schemas.openxmlformats.org/drawingml/2006/main">
            <a:r>
              <a:t>https://support.simplifi.quicken.com/en/articles/3357429-using-projected-cash-flow</a:t>
            </a:r>
          </a:p>
          <a:p xmlns:a="http://schemas.openxmlformats.org/drawingml/2006/main">
            <a:r>
              <a:t>https://emma-app.com/</a:t>
            </a:r>
          </a:p>
          <a:p xmlns:a="http://schemas.openxmlformats.org/drawingml/2006/main">
            <a:r>
              <a:t>https://emma-app.com/emma-reviews</a:t>
            </a:r>
          </a:p>
          <a:p xmlns:a="http://schemas.openxmlformats.org/drawingml/2006/main">
            <a:r>
              <a:t>https://www.snoop.app/</a:t>
            </a:r>
          </a:p>
          <a:p xmlns:a="http://schemas.openxmlformats.org/drawingml/2006/main">
            <a:r>
              <a:t>https://snoop.app/plus/</a:t>
            </a:r>
          </a:p>
          <a:p xmlns:a="http://schemas.openxmlformats.org/drawingml/2006/main">
            <a:r>
              <a:t>https://help.withplum.com/en/articles/8711801-what-is-a-plum-subscription</a:t>
            </a:r>
          </a:p>
          <a:p xmlns:a="http://schemas.openxmlformats.org/drawingml/2006/main">
            <a:r>
              <a:t>https://help.withplum.com/en/articles/9799618-spend-tracker</a:t>
            </a:r>
          </a:p>
          <a:p xmlns:a="http://schemas.openxmlformats.org/drawingml/2006/main">
            <a:r>
              <a:t>https://blog.withplum.com/en-ie/how-does-the-plum-app-work/</a:t>
            </a:r>
          </a:p>
          <a:p xmlns:a="http://schemas.openxmlformats.org/drawingml/2006/main">
            <a:r>
              <a:t>https://buddy.download/</a:t>
            </a:r>
          </a:p>
          <a:p xmlns:a="http://schemas.openxmlformats.org/drawingml/2006/main">
            <a:r>
              <a:t>https://buddy.download/terms-and-conditions/</a:t>
            </a:r>
          </a:p>
          <a:p xmlns:a="http://schemas.openxmlformats.org/drawingml/2006/main">
            <a:r>
              <a:t>https://budgetbakers.com/en/products/wallet/</a:t>
            </a:r>
          </a:p>
          <a:p xmlns:a="http://schemas.openxmlformats.org/drawingml/2006/main">
            <a:r>
              <a:t>https://budgetbakers.com/en/products/wallet/features/bank-sync/</a:t>
            </a:r>
          </a:p>
          <a:p xmlns:a="http://schemas.openxmlformats.org/drawingml/2006/main">
            <a:r>
              <a:t>https://budgetbakers.com/</a:t>
            </a:r>
          </a:p>
          <a:p xmlns:a="http://schemas.openxmlformats.org/drawingml/2006/main">
            <a:r>
              <a:t>https://www.spendee.com/pricing</a:t>
            </a:r>
          </a:p>
          <a:p xmlns:a="http://schemas.openxmlformats.org/drawingml/2006/main">
            <a:r>
              <a:t>https://help.spendee.com/article/131-budget-my-money</a:t>
            </a:r>
          </a:p>
          <a:p xmlns:a="http://schemas.openxmlformats.org/drawingml/2006/main">
            <a:r>
              <a:t>https://files.spendee.com/terms-and-conditions/Privacy%20Policy.pdf</a:t>
            </a:r>
          </a:p>
          <a:p xmlns:a="http://schemas.openxmlformats.org/drawingml/2006/main">
            <a:r>
              <a:t>https://frollo.com.au/frollo-app/</a:t>
            </a:r>
          </a:p>
          <a:p xmlns:a="http://schemas.openxmlformats.org/drawingml/2006/main">
            <a:r>
              <a:t>https://help.frollo.com.au/hc/en-au/articles/13411449808527-Frollo-Money-Management-App</a:t>
            </a:r>
          </a:p>
          <a:p xmlns:a="http://schemas.openxmlformats.org/drawingml/2006/main">
            <a:r>
              <a:t>https://www.banktivity.com/content/plans/plans.php</a:t>
            </a:r>
          </a:p>
          <a:p xmlns:a="http://schemas.openxmlformats.org/drawingml/2006/main">
            <a:r>
              <a:t>https://www.banktivity.com/content/features/features.php</a:t>
            </a:r>
          </a:p>
          <a:p xmlns:a="http://schemas.openxmlformats.org/drawingml/2006/main">
            <a:r>
              <a:t>https://www.wiz.money/</a:t>
            </a:r>
          </a:p>
          <a:p xmlns:a="http://schemas.openxmlformats.org/drawingml/2006/main">
            <a:r>
              <a:t>https://www.wiz.money/pricing</a:t>
            </a:r>
          </a:p>
          <a:p xmlns:a="http://schemas.openxmlformats.org/drawingml/2006/main">
            <a:r>
              <a:t>https://help.wiz.money/en/articles/4440621-how-to-change-the-online-banking-provider</a:t>
            </a:r>
          </a:p>
          <a:p xmlns:a="http://schemas.openxmlformats.org/drawingml/2006/main">
            <a:r>
              <a:t>https://toshl.com/pricing/</a:t>
            </a:r>
          </a:p>
          <a:p xmlns:a="http://schemas.openxmlformats.org/drawingml/2006/main">
            <a:r>
              <a:t>https://toshl.com/bank-connections/</a:t>
            </a:r>
          </a:p>
          <a:p xmlns:a="http://schemas.openxmlformats.org/drawingml/2006/main">
            <a:r>
              <a:t>https://toshl.com/terms/doo/</a:t>
            </a:r>
          </a:p>
          <a:p xmlns:a="http://schemas.openxmlformats.org/drawingml/2006/main">
            <a:r>
              <a:t>https://toshl.com/blog/frequently-asked-questions-faq/</a:t>
            </a:r>
          </a:p>
          <a:p xmlns:a="http://schemas.openxmlformats.org/drawingml/2006/main">
            <a:r>
              <a:t>https://zenmoney.ru/a/</a:t>
            </a:r>
          </a:p>
          <a:p xmlns:a="http://schemas.openxmlformats.org/drawingml/2006/main">
            <a:r>
              <a:t>https://app.zenmoney.ru/</a:t>
            </a:r>
          </a:p>
          <a:p xmlns:a="http://schemas.openxmlformats.org/drawingml/2006/main">
            <a:r>
              <a:t>https://support.zenmoney.ru/knowledge-bases/2/articles/1383-chto-dayot-skanirovanie-qr-kodov-kak-rabotat-s-chekami</a:t>
            </a:r>
          </a:p>
          <a:p xmlns:a="http://schemas.openxmlformats.org/drawingml/2006/main">
            <a:r>
              <a:t>https://www.drebedengi.ru/</a:t>
            </a:r>
          </a:p>
          <a:p xmlns:a="http://schemas.openxmlformats.org/drawingml/2006/main">
            <a:r>
              <a:t>https://www.drebedengi.ru/?module=v2_aboutPrice</a:t>
            </a:r>
          </a:p>
          <a:p xmlns:a="http://schemas.openxmlformats.org/drawingml/2006/main">
            <a:r>
              <a:t>Группировка является нашей аналитической оценкой. Она не означает, что у продукта отсутствуют соседние функции. География подключения и страна разработчика различаются.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https://web.meetcleo.com/faqs/en/articles/13727802-what-is-autopilot</a:t>
            </a:r>
          </a:p>
          <a:p xmlns:a="http://schemas.openxmlformats.org/drawingml/2006/main">
            <a:r>
              <a:t>https://web.meetcleo.com/faqs/en/articles/8124868-what-can-t-cleo-do</a:t>
            </a:r>
          </a:p>
          <a:p xmlns:a="http://schemas.openxmlformats.org/drawingml/2006/main">
            <a:r>
              <a:t>https://web.meetcleo.com/pricing</a:t>
            </a:r>
          </a:p>
          <a:p xmlns:a="http://schemas.openxmlformats.org/drawingml/2006/main">
            <a:r>
              <a:t>https://pocketguard.com/</a:t>
            </a:r>
          </a:p>
          <a:p xmlns:a="http://schemas.openxmlformats.org/drawingml/2006/main">
            <a:r>
              <a:t>https://pocketguard.com/pricing/</a:t>
            </a:r>
          </a:p>
          <a:p xmlns:a="http://schemas.openxmlformats.org/drawingml/2006/main">
            <a:r>
              <a:t>https://pocketguard.com/what-is-pocketguard/</a:t>
            </a:r>
          </a:p>
          <a:p xmlns:a="http://schemas.openxmlformats.org/drawingml/2006/main">
            <a:r>
              <a:t>https://support.simplifi.quicken.com/en/articles/3363727-quicken-simplifi-subscription-questions</a:t>
            </a:r>
          </a:p>
          <a:p xmlns:a="http://schemas.openxmlformats.org/drawingml/2006/main">
            <a:r>
              <a:t>https://www.quicken.com/products/simplifi/</a:t>
            </a:r>
          </a:p>
          <a:p xmlns:a="http://schemas.openxmlformats.org/drawingml/2006/main">
            <a:r>
              <a:t>https://www.quicken.com/products/pricing-comparison/</a:t>
            </a:r>
          </a:p>
          <a:p xmlns:a="http://schemas.openxmlformats.org/drawingml/2006/main">
            <a:r>
              <a:t>https://support.simplifi.quicken.com/en/articles/4212702-understanding-your-spending-plan</a:t>
            </a:r>
          </a:p>
          <a:p xmlns:a="http://schemas.openxmlformats.org/drawingml/2006/main">
            <a:r>
              <a:t>https://support.simplifi.quicken.com/en/articles/3357429-using-projected-cash-flow</a:t>
            </a:r>
          </a:p>
          <a:p xmlns:a="http://schemas.openxmlformats.org/drawingml/2006/main">
            <a:r>
              <a:t>https://frollo.com.au/frollo-app/</a:t>
            </a:r>
          </a:p>
          <a:p xmlns:a="http://schemas.openxmlformats.org/drawingml/2006/main">
            <a:r>
              <a:t>https://help.frollo.com.au/hc/en-au/articles/13411449808527-Frollo-Money-Management-App</a:t>
            </a:r>
          </a:p>
          <a:p xmlns:a="http://schemas.openxmlformats.org/drawingml/2006/main">
            <a:r>
              <a:t>Cleo Autopilot: https://web.meetcleo.com/faqs/en/articles/13727802-what-is-autopilot (10.03.2026). FAQ предлагает join waitlist. В исследовании не проводился тест приложений или алгоритмов.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данные, не результат продукта. Снимок 12.09.2026: 120000. Обязательства 45000 (аренда35000+кредит9000+подписка1000). Резерв30000. Базовые будущие расходы18000. Отдельной защищенной суммы цели вне резерва в примере нет. Получаем27000. Покупка12000 дает15000. Доход80000 ожидается25.09 и до фактического зачисления не включается. Для осторожного расчета14 календарных дней с12по25сентября включительно. floor(27000/14)=1928; floor(15000/14)=1071. Подробнее research/playbook.md.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research/playbook.md. Количество пользователей является ориентиром, не достигнутым результатом. 1000+ DAU - дальнейшее направление, не обещание за12недель.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https://pocketguard.com/</a:t>
            </a:r>
          </a:p>
          <a:p xmlns:a="http://schemas.openxmlformats.org/drawingml/2006/main">
            <a:r>
              <a:t>https://pocketguard.com/pricing/</a:t>
            </a:r>
          </a:p>
          <a:p xmlns:a="http://schemas.openxmlformats.org/drawingml/2006/main">
            <a:r>
              <a:t>https://pocketguard.com/what-is-pocketguard/</a:t>
            </a:r>
          </a:p>
          <a:p xmlns:a="http://schemas.openxmlformats.org/drawingml/2006/main">
            <a:r>
              <a:t>https://www.ynab.com/pricing/</a:t>
            </a:r>
          </a:p>
          <a:p xmlns:a="http://schemas.openxmlformats.org/drawingml/2006/main">
            <a:r>
              <a:t>https://support.ynab.com/en_us/direct-import-in-europe-Syae1z_A9</a:t>
            </a:r>
          </a:p>
          <a:p xmlns:a="http://schemas.openxmlformats.org/drawingml/2006/main">
            <a:r>
              <a:t>https://zenmoney.ru/a/</a:t>
            </a:r>
          </a:p>
          <a:p xmlns:a="http://schemas.openxmlformats.org/drawingml/2006/main">
            <a:r>
              <a:t>https://app.zenmoney.ru/</a:t>
            </a:r>
          </a:p>
          <a:p xmlns:a="http://schemas.openxmlformats.org/drawingml/2006/main">
            <a:r>
              <a:t>https://support.zenmoney.ru/knowledge-bases/2/articles/1383-chto-dayot-skanirovanie-qr-kodov-kak-rabotat-s-chekami</a:t>
            </a:r>
          </a:p>
          <a:p xmlns:a="http://schemas.openxmlformats.org/drawingml/2006/main">
            <a:r>
              <a:t>Цены других продуктов являются внешним ориентиром и не устанавливают цену Можно?. Бюджеты/конверсии/CAC/выручка не предоставлены.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Факты и роли только из README.md. Иллюстрация является вымышленным ансамблем, не портретами участников. Не утверждаем совместный запуск всей пятеркой или собственный B2C на сотни тысяч DAU.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Контекст проекта: README.md, срез 12.09.2026. Можно? находится на стадии гипотезы. Плановые этапы и показатели не являются результатами. Иллюстрация художественная, персонажи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5e95619b34a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a7078df7a461e" /><Relationship Type="http://schemas.openxmlformats.org/officeDocument/2006/relationships/slideLayout" Target="/ppt/slideLayouts/slideLayout1.xml" Id="R745dd14e0602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dd14e0602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7f682aae74cd4" /><Relationship Type="http://schemas.openxmlformats.org/officeDocument/2006/relationships/image" Target="/ppt/media/image.png" Id="R7fef66a4db7d4f43" /><Relationship Type="http://schemas.openxmlformats.org/officeDocument/2006/relationships/notesSlide" Target="/ppt/notesSlides/notesSlide1.xml" Id="R55006613d197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dd5eaab7b41c3" /><Relationship Type="http://schemas.openxmlformats.org/officeDocument/2006/relationships/image" Target="/ppt/media/image2.png" Id="R5bc92cfab45e4748" /><Relationship Type="http://schemas.openxmlformats.org/officeDocument/2006/relationships/notesSlide" Target="/ppt/notesSlides/notesSlide2.xml" Id="R0c75bf7c4acf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4a9a9caa4023" /><Relationship Type="http://schemas.openxmlformats.org/officeDocument/2006/relationships/image" Target="/ppt/media/image3.png" Id="R5f7d2a3fa0ea4ef2" /><Relationship Type="http://schemas.openxmlformats.org/officeDocument/2006/relationships/notesSlide" Target="/ppt/notesSlides/notesSlide3.xml" Id="R2eaa945d5785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c7f94799641e7" /><Relationship Type="http://schemas.openxmlformats.org/officeDocument/2006/relationships/image" Target="/ppt/media/image4.png" Id="R2714355b60284c9c" /><Relationship Type="http://schemas.openxmlformats.org/officeDocument/2006/relationships/notesSlide" Target="/ppt/notesSlides/notesSlide4.xml" Id="R6c19a241b90846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e0a864f4a48b5" /><Relationship Type="http://schemas.openxmlformats.org/officeDocument/2006/relationships/image" Target="/ppt/media/image5.png" Id="R53c5928203c942f3" /><Relationship Type="http://schemas.openxmlformats.org/officeDocument/2006/relationships/notesSlide" Target="/ppt/notesSlides/notesSlide5.xml" Id="R3170f31aeda8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df4f5c6264d85" /><Relationship Type="http://schemas.openxmlformats.org/officeDocument/2006/relationships/image" Target="/ppt/media/image6.png" Id="Rb24715fbf7bf42ac" /><Relationship Type="http://schemas.openxmlformats.org/officeDocument/2006/relationships/notesSlide" Target="/ppt/notesSlides/notesSlide6.xml" Id="R3ade8a03a9bb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24134f2c44c1" /><Relationship Type="http://schemas.openxmlformats.org/officeDocument/2006/relationships/image" Target="/ppt/media/image7.png" Id="R67bd7b6e18984000" /><Relationship Type="http://schemas.openxmlformats.org/officeDocument/2006/relationships/notesSlide" Target="/ppt/notesSlides/notesSlide7.xml" Id="R8f9f3bd6df8d44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fe0e8e0844e37" /><Relationship Type="http://schemas.openxmlformats.org/officeDocument/2006/relationships/image" Target="/ppt/media/image8.png" Id="R0846396a3b1042c6" /><Relationship Type="http://schemas.openxmlformats.org/officeDocument/2006/relationships/notesSlide" Target="/ppt/notesSlides/notesSlide8.xml" Id="R64ecc927c17b40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6dce57154b4a" /><Relationship Type="http://schemas.openxmlformats.org/officeDocument/2006/relationships/image" Target="/ppt/media/image9.png" Id="Raf83206d97b047d1" /><Relationship Type="http://schemas.openxmlformats.org/officeDocument/2006/relationships/notesSlide" Target="/ppt/notesSlides/notesSlide9.xml" Id="R3ac688f3e9e447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7f9ea22b24524" /><Relationship Type="http://schemas.openxmlformats.org/officeDocument/2006/relationships/image" Target="/ppt/media/image10.png" Id="R4590fc216eda4de8" /><Relationship Type="http://schemas.openxmlformats.org/officeDocument/2006/relationships/notesSlide" Target="/ppt/notesSlides/notesSlide10.xml" Id="R8dda633ff960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493d513284da4" /><Relationship Type="http://schemas.openxmlformats.org/officeDocument/2006/relationships/image" Target="/ppt/media/image11.png" Id="R0148098807c14d40" /><Relationship Type="http://schemas.openxmlformats.org/officeDocument/2006/relationships/notesSlide" Target="/ppt/notesSlides/notesSlide11.xml" Id="R66eaad08aa8c4d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630211f84664" /><Relationship Type="http://schemas.openxmlformats.org/officeDocument/2006/relationships/image" Target="/ppt/media/image12.png" Id="R76d78f554aee4aec" /><Relationship Type="http://schemas.openxmlformats.org/officeDocument/2006/relationships/notesSlide" Target="/ppt/notesSlides/notesSlide12.xml" Id="Rf671a56f4054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59246c8ac4619" /><Relationship Type="http://schemas.openxmlformats.org/officeDocument/2006/relationships/image" Target="/ppt/media/image13.png" Id="Rea3dbf0b340d47c2" /><Relationship Type="http://schemas.openxmlformats.org/officeDocument/2006/relationships/notesSlide" Target="/ppt/notesSlides/notesSlide13.xml" Id="Rbd742c6fd65e49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1c56a373409c" /><Relationship Type="http://schemas.openxmlformats.org/officeDocument/2006/relationships/image" Target="/ppt/media/image14.png" Id="R9aca89dbf24e4967" /><Relationship Type="http://schemas.openxmlformats.org/officeDocument/2006/relationships/notesSlide" Target="/ppt/notesSlides/notesSlide14.xml" Id="R56cbf5dfdf594d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e9045cf484e48" /><Relationship Type="http://schemas.openxmlformats.org/officeDocument/2006/relationships/image" Target="/ppt/media/image15.png" Id="Rec33f772d10443e2" /><Relationship Type="http://schemas.openxmlformats.org/officeDocument/2006/relationships/notesSlide" Target="/ppt/notesSlides/notesSlide15.xml" Id="Redf48cbe1e2d40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5f4f314fd4016" /><Relationship Type="http://schemas.openxmlformats.org/officeDocument/2006/relationships/image" Target="/ppt/media/image16.png" Id="R1af32b771b8c4a99" /><Relationship Type="http://schemas.openxmlformats.org/officeDocument/2006/relationships/notesSlide" Target="/ppt/notesSlides/notesSlide16.xml" Id="Rea420575470a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f66a4db7d4f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Можно?">
            <a:extLst xmlns:a="http://schemas.openxmlformats.org/drawingml/2006/main">
              <a:ext uri="{FF2B5EF4-FFF2-40B4-BE49-F238E27FC236}">
                <a16:creationId xmlns:a16="http://schemas.microsoft.com/office/drawing/2014/main" id="{CDC6FDE5-5F1D-4F59-99B1-026AA31B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5B0AC3A-C0A1-4CE8-9997-085D99A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Мы помогаем понять&#10;последствия покупки&#10;до оплаты">
            <a:extLst xmlns:a="http://schemas.openxmlformats.org/drawingml/2006/main">
              <a:ext uri="{FF2B5EF4-FFF2-40B4-BE49-F238E27FC236}">
                <a16:creationId xmlns:a16="http://schemas.microsoft.com/office/drawing/2014/main" id="{248BFF1B-4854-4802-B324-CB2BFF37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Мы помогаем понять</a:t>
            </a:r>
          </a:p>
          <a:p xmlns:a="http://schemas.openxmlformats.org/drawingml/2006/main">
            <a:pPr algn="l">
              <a:defRPr sz="3375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последствия покупки</a:t>
            </a:r>
          </a:p>
          <a:p xmlns:a="http://schemas.openxmlformats.org/drawingml/2006/main">
            <a:pPr algn="l">
              <a:defRPr sz="3375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до оплаты</a:t>
            </a:r>
          </a:p>
        </p:txBody>
      </p:sp>
      <p:sp>
        <p:nvSpPr>
          <p:cNvPr id="5" name="Мировые аналоги, статистика&#10;и плейбук проверки про">
            <a:extLst xmlns:a="http://schemas.openxmlformats.org/drawingml/2006/main">
              <a:ext uri="{FF2B5EF4-FFF2-40B4-BE49-F238E27FC236}">
                <a16:creationId xmlns:a16="http://schemas.microsoft.com/office/drawing/2014/main" id="{6ECCACE8-C52B-4C29-B4E1-A64BC2A7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600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Мировые аналоги, статистика</a:t>
            </a:r>
          </a:p>
          <a:p xmlns:a="http://schemas.openxmlformats.org/drawingml/2006/main">
            <a:pPr algn="l">
              <a:defRPr sz="2025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и плейбук проверки продукта</a:t>
            </a:r>
          </a:p>
        </p:txBody>
      </p:sp>
      <p:sp>
        <p:nvSpPr>
          <p:cNvPr id="6" name="Исследовательская версия · 12 сентября 2026 · Стад">
            <a:extLst xmlns:a="http://schemas.openxmlformats.org/drawingml/2006/main">
              <a:ext uri="{FF2B5EF4-FFF2-40B4-BE49-F238E27FC236}">
                <a16:creationId xmlns:a16="http://schemas.microsoft.com/office/drawing/2014/main" id="{4BAB1A73-D1C0-4105-90E2-31F54E5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Исследовательская версия · 12 сентября 2026 · Стадия: гипотеза</a:t>
            </a:r>
          </a:p>
        </p:txBody>
      </p:sp>
    </p:spTree>
    <p:extLst>
      <p:ext uri="{BB962C8B-B14F-4D97-AF65-F5344CB8AC3E}">
        <p14:creationId xmlns:p14="http://schemas.microsoft.com/office/powerpoint/2010/main" val="1447781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92cfab45e47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Вопрос перед покупкой">
            <a:extLst xmlns:a="http://schemas.openxmlformats.org/drawingml/2006/main">
              <a:ext uri="{FF2B5EF4-FFF2-40B4-BE49-F238E27FC236}">
                <a16:creationId xmlns:a16="http://schemas.microsoft.com/office/drawing/2014/main" id="{2A621343-C57C-41EC-A8ED-B56F476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Вопрос перед покупкой</a:t>
            </a:r>
          </a:p>
        </p:txBody>
      </p:sp>
      <p:sp>
        <p:nvSpPr>
          <p:cNvPr id="3" name="Проблема, которую мы проверяем">
            <a:extLst xmlns:a="http://schemas.openxmlformats.org/drawingml/2006/main">
              <a:ext uri="{FF2B5EF4-FFF2-40B4-BE49-F238E27FC236}">
                <a16:creationId xmlns:a16="http://schemas.microsoft.com/office/drawing/2014/main" id="{62818B50-5BB4-45F0-965C-ED44D8F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Проблема, которую мы проверяем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114508B0-FEE0-47D2-A8DF-47593593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Хватит ли денег&#10;после этой покупки?">
            <a:extLst xmlns:a="http://schemas.openxmlformats.org/drawingml/2006/main">
              <a:ext uri="{FF2B5EF4-FFF2-40B4-BE49-F238E27FC236}">
                <a16:creationId xmlns:a16="http://schemas.microsoft.com/office/drawing/2014/main" id="{9ADB7F3D-451A-45C2-B67E-E172DC8D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571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Хватит ли денег</a:t>
            </a:r>
          </a:p>
          <a:p xmlns:a="http://schemas.openxmlformats.org/drawingml/2006/main">
            <a:pPr algn="l">
              <a:defRPr sz="31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после этой покупки?</a:t>
            </a:r>
          </a:p>
        </p:txBody>
      </p:sp>
      <p:sp>
        <p:nvSpPr>
          <p:cNvPr id="6" name="Мы учитываем ближайшие платежи,&#10;базовые расходы и ">
            <a:extLst xmlns:a="http://schemas.openxmlformats.org/drawingml/2006/main">
              <a:ext uri="{FF2B5EF4-FFF2-40B4-BE49-F238E27FC236}">
                <a16:creationId xmlns:a16="http://schemas.microsoft.com/office/drawing/2014/main" id="{EE91CC79-6A4B-4EF4-94D5-7E72A2A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5762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Мы учитываем ближайшие платежи,</a:t>
            </a:r>
          </a:p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базовые расходы и резерв.</a:t>
            </a:r>
          </a:p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Затем показываем последствия</a:t>
            </a:r>
          </a:p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для бюджета до следующего дохода.</a:t>
            </a:r>
          </a:p>
        </p:txBody>
      </p:sp>
      <p:sp>
        <p:nvSpPr>
          <p:cNvPr id="7" name="Потребность и частоту этого сценария нам предстоит">
            <a:extLst xmlns:a="http://schemas.openxmlformats.org/drawingml/2006/main">
              <a:ext uri="{FF2B5EF4-FFF2-40B4-BE49-F238E27FC236}">
                <a16:creationId xmlns:a16="http://schemas.microsoft.com/office/drawing/2014/main" id="{3781BAF5-CD2B-4357-BED9-F2D4CBF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Потребность и частоту этого сценария нам предстоит подтвердить.</a:t>
            </a:r>
          </a:p>
        </p:txBody>
      </p:sp>
    </p:spTree>
    <p:extLst>
      <p:ext uri="{BB962C8B-B14F-4D97-AF65-F5344CB8AC3E}">
        <p14:creationId xmlns:p14="http://schemas.microsoft.com/office/powerpoint/2010/main" val="1063165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d2a3fa0ea4e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Международный контекст">
            <a:extLst xmlns:a="http://schemas.openxmlformats.org/drawingml/2006/main">
              <a:ext uri="{FF2B5EF4-FFF2-40B4-BE49-F238E27FC236}">
                <a16:creationId xmlns:a16="http://schemas.microsoft.com/office/drawing/2014/main" id="{293FF2F6-23E6-4EDA-A105-62174EAE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Международный контекст</a:t>
            </a:r>
          </a:p>
        </p:txBody>
      </p:sp>
      <p:sp>
        <p:nvSpPr>
          <p:cNvPr id="3" name="Разные исследования, разные группы">
            <a:extLst xmlns:a="http://schemas.openxmlformats.org/drawingml/2006/main">
              <a:ext uri="{FF2B5EF4-FFF2-40B4-BE49-F238E27FC236}">
                <a16:creationId xmlns:a16="http://schemas.microsoft.com/office/drawing/2014/main" id="{F97783F4-5698-4415-9C58-C9D0A55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Разные исследования, разные группы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C16B3F18-60DC-4BC2-A766-D17225A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54%">
            <a:extLst xmlns:a="http://schemas.openxmlformats.org/drawingml/2006/main">
              <a:ext uri="{FF2B5EF4-FFF2-40B4-BE49-F238E27FC236}">
                <a16:creationId xmlns:a16="http://schemas.microsoft.com/office/drawing/2014/main" id="{D95ADD57-BE53-4B86-A74F-B28A7CB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54%</a:t>
            </a:r>
          </a:p>
        </p:txBody>
      </p:sp>
      <p:sp>
        <p:nvSpPr>
          <p:cNvPr id="6" name="могли покрыть расход в месячный доход&#10;без займа ил">
            <a:extLst xmlns:a="http://schemas.openxmlformats.org/drawingml/2006/main">
              <a:ext uri="{FF2B5EF4-FFF2-40B4-BE49-F238E27FC236}">
                <a16:creationId xmlns:a16="http://schemas.microsoft.com/office/drawing/2014/main" id="{D9BC5657-0BFB-449B-BFF4-49534C9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могли покрыть расход в месячный доход</a:t>
            </a:r>
          </a:p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без займа или помощи близких</a:t>
            </a:r>
          </a:p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OECD/INFE, международное среднее, 2023</a:t>
            </a:r>
          </a:p>
        </p:txBody>
      </p:sp>
      <p:sp>
        <p:nvSpPr>
          <p:cNvPr id="7" name="32%">
            <a:extLst xmlns:a="http://schemas.openxmlformats.org/drawingml/2006/main">
              <a:ext uri="{FF2B5EF4-FFF2-40B4-BE49-F238E27FC236}">
                <a16:creationId xmlns:a16="http://schemas.microsoft.com/office/drawing/2014/main" id="{75A62A78-D2EA-4479-8DBA-F9626AA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BB91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8" name="в группе низкой финансовой устойчивости&#10;Великобрит">
            <a:extLst xmlns:a="http://schemas.openxmlformats.org/drawingml/2006/main">
              <a:ext uri="{FF2B5EF4-FFF2-40B4-BE49-F238E27FC236}">
                <a16:creationId xmlns:a16="http://schemas.microsoft.com/office/drawing/2014/main" id="{173125E1-2BBB-406D-94DD-C352CF4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480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в группе низкой финансовой устойчивости</a:t>
            </a:r>
          </a:p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Великобритания, возраст 25-34</a:t>
            </a:r>
          </a:p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FCA Financial Lives, 2024</a:t>
            </a:r>
          </a:p>
        </p:txBody>
      </p:sp>
      <p:sp>
        <p:nvSpPr>
          <p:cNvPr id="9" name="Источники: OECD/INFE 2023; FCA Financial Lives 202">
            <a:extLst xmlns:a="http://schemas.openxmlformats.org/drawingml/2006/main">
              <a:ext uri="{FF2B5EF4-FFF2-40B4-BE49-F238E27FC236}">
                <a16:creationId xmlns:a16="http://schemas.microsoft.com/office/drawing/2014/main" id="{5B1DAA53-F067-4D99-8E85-EE0926E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Источники: OECD/INFE 2023; FCA Financial Lives 2024. Эти доли нельзя переносить на Россию.</a:t>
            </a:r>
          </a:p>
        </p:txBody>
      </p:sp>
    </p:spTree>
    <p:extLst>
      <p:ext uri="{BB962C8B-B14F-4D97-AF65-F5344CB8AC3E}">
        <p14:creationId xmlns:p14="http://schemas.microsoft.com/office/powerpoint/2010/main" val="871478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4355b60284c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Российский контекст">
            <a:extLst xmlns:a="http://schemas.openxmlformats.org/drawingml/2006/main">
              <a:ext uri="{FF2B5EF4-FFF2-40B4-BE49-F238E27FC236}">
                <a16:creationId xmlns:a16="http://schemas.microsoft.com/office/drawing/2014/main" id="{38E752AF-E215-43BD-820B-58B57B3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Российский контекст</a:t>
            </a:r>
          </a:p>
        </p:txBody>
      </p:sp>
      <p:sp>
        <p:nvSpPr>
          <p:cNvPr id="3" name="Проблема есть, спрос на сервис ещё не доказан">
            <a:extLst xmlns:a="http://schemas.openxmlformats.org/drawingml/2006/main">
              <a:ext uri="{FF2B5EF4-FFF2-40B4-BE49-F238E27FC236}">
                <a16:creationId xmlns:a16="http://schemas.microsoft.com/office/drawing/2014/main" id="{3D6AD476-97AB-4A3B-8E68-2035FCF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Проблема есть, спрос на сервис ещё не доказан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83BBEF28-9E40-4528-A86E-CD7E1C7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51%">
            <a:extLst xmlns:a="http://schemas.openxmlformats.org/drawingml/2006/main">
              <a:ext uri="{FF2B5EF4-FFF2-40B4-BE49-F238E27FC236}">
                <a16:creationId xmlns:a16="http://schemas.microsoft.com/office/drawing/2014/main" id="{34594B27-613A-4A26-8DDA-5B638599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51%</a:t>
            </a:r>
          </a:p>
        </p:txBody>
      </p:sp>
      <p:sp>
        <p:nvSpPr>
          <p:cNvPr id="6" name="россиян 18-34 лет&#10;с низкой финансовой грамотностью">
            <a:extLst xmlns:a="http://schemas.openxmlformats.org/drawingml/2006/main">
              <a:ext uri="{FF2B5EF4-FFF2-40B4-BE49-F238E27FC236}">
                <a16:creationId xmlns:a16="http://schemas.microsoft.com/office/drawing/2014/main" id="{FAA421C3-AC95-454E-9557-9C8BDE9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россиян 18-34 лет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с низкой финансовой грамотностью</a:t>
            </a:r>
          </a:p>
        </p:txBody>
      </p:sp>
      <p:sp>
        <p:nvSpPr>
          <p:cNvPr id="7" name="34%">
            <a:extLst xmlns:a="http://schemas.openxmlformats.org/drawingml/2006/main">
              <a:ext uri="{FF2B5EF4-FFF2-40B4-BE49-F238E27FC236}">
                <a16:creationId xmlns:a16="http://schemas.microsoft.com/office/drawing/2014/main" id="{2CED6088-E3DB-48BC-A067-59FEEC8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857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BB91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8" name="взрослых сообщили о резерве&#10;на три месяца обязател">
            <a:extLst xmlns:a="http://schemas.openxmlformats.org/drawingml/2006/main">
              <a:ext uri="{FF2B5EF4-FFF2-40B4-BE49-F238E27FC236}">
                <a16:creationId xmlns:a16="http://schemas.microsoft.com/office/drawing/2014/main" id="{E43D9DF7-58A9-4F5E-A6FD-4300C21D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взрослых сообщили о резерве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на три месяца обязательных расходов</a:t>
            </a:r>
          </a:p>
        </p:txBody>
      </p:sp>
      <p:sp>
        <p:nvSpPr>
          <p:cNvPr id="9" name="При этом 80% заранее обдумывают покупки.&#10;Мы ищем к">
            <a:extLst xmlns:a="http://schemas.openxmlformats.org/drawingml/2006/main">
              <a:ext uri="{FF2B5EF4-FFF2-40B4-BE49-F238E27FC236}">
                <a16:creationId xmlns:a16="http://schemas.microsoft.com/office/drawing/2014/main" id="{6B28F062-7CE0-4710-A204-A765019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При этом 80% заранее обдумывают покупки.</a:t>
            </a:r>
          </a:p>
          <a:p xmlns:a="http://schemas.openxmlformats.org/drawingml/2006/main">
            <a:pPr algn="l">
              <a:defRPr sz="18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Мы ищем конкретный пробел в принятии решения.</a:t>
            </a:r>
          </a:p>
        </p:txBody>
      </p:sp>
      <p:sp>
        <p:nvSpPr>
          <p:cNvPr id="10" name="НАФИ, декабрь 2025, n = 1 003 взрослых. Возрастная">
            <a:extLst xmlns:a="http://schemas.openxmlformats.org/drawingml/2006/main">
              <a:ext uri="{FF2B5EF4-FFF2-40B4-BE49-F238E27FC236}">
                <a16:creationId xmlns:a16="http://schemas.microsoft.com/office/drawing/2014/main" id="{0205BFA2-B452-48DB-9F1B-6488BDF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НАФИ, декабрь 2025, n = 1 003 взрослых. Возрастная подгруппа: 18-34, не 20-35.</a:t>
            </a:r>
          </a:p>
        </p:txBody>
      </p:sp>
    </p:spTree>
    <p:extLst>
      <p:ext uri="{BB962C8B-B14F-4D97-AF65-F5344CB8AC3E}">
        <p14:creationId xmlns:p14="http://schemas.microsoft.com/office/powerpoint/2010/main" val="410533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5928203c942f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8 похожих продуктов">
            <a:extLst xmlns:a="http://schemas.openxmlformats.org/drawingml/2006/main">
              <a:ext uri="{FF2B5EF4-FFF2-40B4-BE49-F238E27FC236}">
                <a16:creationId xmlns:a16="http://schemas.microsoft.com/office/drawing/2014/main" id="{42EA604F-1CCA-4D95-8CE8-FEFE653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18 похожих продуктов</a:t>
            </a:r>
          </a:p>
        </p:txBody>
      </p:sp>
      <p:sp>
        <p:nvSpPr>
          <p:cNvPr id="3" name="Мы разделяем продукты по основному сценарию">
            <a:extLst xmlns:a="http://schemas.openxmlformats.org/drawingml/2006/main">
              <a:ext uri="{FF2B5EF4-FFF2-40B4-BE49-F238E27FC236}">
                <a16:creationId xmlns:a16="http://schemas.microsoft.com/office/drawing/2014/main" id="{FC10846A-432D-439F-B2F1-29703822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Мы разделяем продукты по основному сценарию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19632E7-DF1A-4704-958B-468B8D9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Допустимые траты">
            <a:extLst xmlns:a="http://schemas.openxmlformats.org/drawingml/2006/main">
              <a:ext uri="{FF2B5EF4-FFF2-40B4-BE49-F238E27FC236}">
                <a16:creationId xmlns:a16="http://schemas.microsoft.com/office/drawing/2014/main" id="{63DDC134-0CC1-4868-85A5-211F637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738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Допустимые траты</a:t>
            </a:r>
          </a:p>
        </p:txBody>
      </p:sp>
      <p:sp>
        <p:nvSpPr>
          <p:cNvPr id="6" name="Cleo Autopilot*, PocketGuard, Quicken Simplifi">
            <a:extLst xmlns:a="http://schemas.openxmlformats.org/drawingml/2006/main">
              <a:ext uri="{FF2B5EF4-FFF2-40B4-BE49-F238E27FC236}">
                <a16:creationId xmlns:a16="http://schemas.microsoft.com/office/drawing/2014/main" id="{CD12DA79-BFDB-4543-8791-5E1170AE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Cleo Autopilot*, PocketGuard, Quicken Simplifi</a:t>
            </a:r>
          </a:p>
        </p:txBody>
      </p:sp>
      <p:sp>
        <p:nvSpPr>
          <p:cNvPr id="7" name="Бюджет и будущие платежи">
            <a:extLst xmlns:a="http://schemas.openxmlformats.org/drawingml/2006/main">
              <a:ext uri="{FF2B5EF4-FFF2-40B4-BE49-F238E27FC236}">
                <a16:creationId xmlns:a16="http://schemas.microsoft.com/office/drawing/2014/main" id="{F0FC8832-D812-4DE1-AA6B-EE223E8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738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Бюджет и будущие платежи</a:t>
            </a:r>
          </a:p>
        </p:txBody>
      </p:sp>
      <p:sp>
        <p:nvSpPr>
          <p:cNvPr id="8" name="YNAB, Monarch, Copilot Money, Emma, Snoop, Frollo">
            <a:extLst xmlns:a="http://schemas.openxmlformats.org/drawingml/2006/main">
              <a:ext uri="{FF2B5EF4-FFF2-40B4-BE49-F238E27FC236}">
                <a16:creationId xmlns:a16="http://schemas.microsoft.com/office/drawing/2014/main" id="{CD3F7D15-9327-4CFB-B9C5-39D807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YNAB, Monarch, Copilot Money, Emma, Snoop, Frollo</a:t>
            </a:r>
          </a:p>
        </p:txBody>
      </p:sp>
      <p:sp>
        <p:nvSpPr>
          <p:cNvPr id="9" name="Учет и планирование">
            <a:extLst xmlns:a="http://schemas.openxmlformats.org/drawingml/2006/main">
              <a:ext uri="{FF2B5EF4-FFF2-40B4-BE49-F238E27FC236}">
                <a16:creationId xmlns:a16="http://schemas.microsoft.com/office/drawing/2014/main" id="{717DD5F0-FCAD-43D3-9052-28BCA38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738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Учет и планирование</a:t>
            </a:r>
          </a:p>
        </p:txBody>
      </p:sp>
      <p:sp>
        <p:nvSpPr>
          <p:cNvPr id="10" name="Wallet, Spendee, Buddy, MoneyWiz, Toshl, Banktivit">
            <a:extLst xmlns:a="http://schemas.openxmlformats.org/drawingml/2006/main">
              <a:ext uri="{FF2B5EF4-FFF2-40B4-BE49-F238E27FC236}">
                <a16:creationId xmlns:a16="http://schemas.microsoft.com/office/drawing/2014/main" id="{B6620E2E-B220-407C-AB55-3AC782AB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Wallet, Spendee, Buddy, MoneyWiz, Toshl, Banktivity</a:t>
            </a:r>
          </a:p>
        </p:txBody>
      </p:sp>
      <p:sp>
        <p:nvSpPr>
          <p:cNvPr id="11" name="Накопления">
            <a:extLst xmlns:a="http://schemas.openxmlformats.org/drawingml/2006/main">
              <a:ext uri="{FF2B5EF4-FFF2-40B4-BE49-F238E27FC236}">
                <a16:creationId xmlns:a16="http://schemas.microsoft.com/office/drawing/2014/main" id="{CF36D79B-0D42-48DA-BBC8-C1F28E20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738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Накопления</a:t>
            </a:r>
          </a:p>
        </p:txBody>
      </p:sp>
      <p:sp>
        <p:nvSpPr>
          <p:cNvPr id="12" name="Plum">
            <a:extLst xmlns:a="http://schemas.openxmlformats.org/drawingml/2006/main">
              <a:ext uri="{FF2B5EF4-FFF2-40B4-BE49-F238E27FC236}">
                <a16:creationId xmlns:a16="http://schemas.microsoft.com/office/drawing/2014/main" id="{99078F48-4593-4A29-BA13-6711BE3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Plum</a:t>
            </a:r>
          </a:p>
        </p:txBody>
      </p:sp>
      <p:sp>
        <p:nvSpPr>
          <p:cNvPr id="13" name="Российские аналоги">
            <a:extLst xmlns:a="http://schemas.openxmlformats.org/drawingml/2006/main">
              <a:ext uri="{FF2B5EF4-FFF2-40B4-BE49-F238E27FC236}">
                <a16:creationId xmlns:a16="http://schemas.microsoft.com/office/drawing/2014/main" id="{F170B82A-745D-4228-B2D5-0A3D7D3F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738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Российские аналоги</a:t>
            </a:r>
          </a:p>
        </p:txBody>
      </p:sp>
      <p:sp>
        <p:nvSpPr>
          <p:cNvPr id="14" name="Дзен-мани, Дребеденьги">
            <a:extLst xmlns:a="http://schemas.openxmlformats.org/drawingml/2006/main">
              <a:ext uri="{FF2B5EF4-FFF2-40B4-BE49-F238E27FC236}">
                <a16:creationId xmlns:a16="http://schemas.microsoft.com/office/drawing/2014/main" id="{927CF8B4-AEF2-4A34-B4F5-D744FF0B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Дзен-мани, Дребеденьги</a:t>
            </a:r>
          </a:p>
        </p:txBody>
      </p:sp>
      <p:sp>
        <p:nvSpPr>
          <p:cNvPr id="15" name="Официальные страницы, проверка 12.09.2026. *Cleo A">
            <a:extLst xmlns:a="http://schemas.openxmlformats.org/drawingml/2006/main">
              <a:ext uri="{FF2B5EF4-FFF2-40B4-BE49-F238E27FC236}">
                <a16:creationId xmlns:a16="http://schemas.microsoft.com/office/drawing/2014/main" id="{D8F50D4C-B662-4419-80D2-385C98B9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Официальные страницы, проверка 12.09.2026. *Cleo Autopilot: в FAQ указан waitlist.</a:t>
            </a:r>
          </a:p>
        </p:txBody>
      </p:sp>
    </p:spTree>
    <p:extLst>
      <p:ext uri="{BB962C8B-B14F-4D97-AF65-F5344CB8AC3E}">
        <p14:creationId xmlns:p14="http://schemas.microsoft.com/office/powerpoint/2010/main" val="449732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715fbf7bf42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Ближайшие пересечения">
            <a:extLst xmlns:a="http://schemas.openxmlformats.org/drawingml/2006/main">
              <a:ext uri="{FF2B5EF4-FFF2-40B4-BE49-F238E27FC236}">
                <a16:creationId xmlns:a16="http://schemas.microsoft.com/office/drawing/2014/main" id="{0B560C8A-6AC6-422A-B03B-29C6AEF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Ближайшие пересечения</a:t>
            </a:r>
          </a:p>
        </p:txBody>
      </p:sp>
      <p:sp>
        <p:nvSpPr>
          <p:cNvPr id="3" name="Safe-to-spend уже представлен на рынке">
            <a:extLst xmlns:a="http://schemas.openxmlformats.org/drawingml/2006/main">
              <a:ext uri="{FF2B5EF4-FFF2-40B4-BE49-F238E27FC236}">
                <a16:creationId xmlns:a16="http://schemas.microsoft.com/office/drawing/2014/main" id="{C9F8AD69-CD2D-4434-9E51-8B84D8CC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Safe-to-spend уже представлен на рынке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8C8A8F4-C9B6-49E6-996B-AD24D126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2457450"/>
          <a:ext xmlns:a="http://schemas.openxmlformats.org/drawingml/2006/main" cx="89535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3762375"/>
                <a:gridCol w="314325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BE2D4"/>
                          </a:solidFill>
                          <a:latin typeface="Arial"/>
                          <a:ea typeface="Arial"/>
                          <a:cs typeface="Arial"/>
                        </a:rPr>
                        <a:t>Продукт</a:t>
                      </a:r>
                    </a:p>
                  </a:txBody>
                  <a:tcPr marL="91440" marR="91440" marT="45720" marB="45720">
                    <a:solidFill>
                      <a:srgbClr val="2034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BE2D4"/>
                          </a:solidFill>
                          <a:latin typeface="Arial"/>
                          <a:ea typeface="Arial"/>
                          <a:cs typeface="Arial"/>
                        </a:rPr>
                        <a:t>Что пересекается</a:t>
                      </a:r>
                    </a:p>
                  </a:txBody>
                  <a:tcPr marL="91440" marR="91440" marT="45720" marB="45720">
                    <a:solidFill>
                      <a:srgbClr val="2034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BE2D4"/>
                          </a:solidFill>
                          <a:latin typeface="Arial"/>
                          <a:ea typeface="Arial"/>
                          <a:cs typeface="Arial"/>
                        </a:rPr>
                        <a:t>Граница сравнения</a:t>
                      </a:r>
                    </a:p>
                  </a:txBody>
                  <a:tcPr marL="91440" marR="91440" marT="45720" marB="45720">
                    <a:solidFill>
                      <a:srgbClr val="2034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Cleo Autopilot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Дневная сумма, доходы,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счета, цели и диалог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Функция описана,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в FAQ есть waitlist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PocketGuard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Leftover после счетов,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бюджетов, целей и долгов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Сильный ориентир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для одной понятной суммы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Quicken Simplifi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Spending Plan и прогноз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будущего остатка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Более широкий горизонт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планирования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Frollo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Будущие счета, бюджеты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и риск нехватки денег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Австралийский рынок</a:t>
                      </a:r>
                    </a:p>
                    <a:p>
                      <a:r>
                        <a:rPr sz="1800" b="0">
                          <a:solidFill>
                            <a:srgbClr val="F5F2EB"/>
                          </a:solidFill>
                          <a:latin typeface="Arial"/>
                          <a:ea typeface="Arial"/>
                          <a:cs typeface="Arial"/>
                        </a:rPr>
                        <a:t>и Open Banking</a:t>
                      </a:r>
                    </a:p>
                  </a:txBody>
                  <a:tcPr marL="91440" marR="91440" marT="45720" marB="45720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  <p:sp>
        <p:nvSpPr>
          <p:cNvPr id="6" name="Источники: официальные сайты и справки. Описания ф">
            <a:extLst xmlns:a="http://schemas.openxmlformats.org/drawingml/2006/main">
              <a:ext uri="{FF2B5EF4-FFF2-40B4-BE49-F238E27FC236}">
                <a16:creationId xmlns:a16="http://schemas.microsoft.com/office/drawing/2014/main" id="{3421CF28-9677-4C1F-8C6D-A7785AB8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Источники: официальные сайты и справки. Описания функций не являются проверкой их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1319065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d7b6e189840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Наш первый сегмент">
            <a:extLst xmlns:a="http://schemas.openxmlformats.org/drawingml/2006/main">
              <a:ext uri="{FF2B5EF4-FFF2-40B4-BE49-F238E27FC236}">
                <a16:creationId xmlns:a16="http://schemas.microsoft.com/office/drawing/2014/main" id="{4B32A7B4-9E2B-478A-BD5C-9F66FA5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Наш первый сегмент</a:t>
            </a:r>
          </a:p>
        </p:txBody>
      </p:sp>
      <p:sp>
        <p:nvSpPr>
          <p:cNvPr id="3" name="Гипотеза для интервью">
            <a:extLst xmlns:a="http://schemas.openxmlformats.org/drawingml/2006/main">
              <a:ext uri="{FF2B5EF4-FFF2-40B4-BE49-F238E27FC236}">
                <a16:creationId xmlns:a16="http://schemas.microsoft.com/office/drawing/2014/main" id="{EF1CD8B0-642A-4577-B57F-F2B1F070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Гипотеза для интервью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E66E401-487D-4CF4-8FE6-4A414F47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20-35 лет">
            <a:extLst xmlns:a="http://schemas.openxmlformats.org/drawingml/2006/main">
              <a:ext uri="{FF2B5EF4-FFF2-40B4-BE49-F238E27FC236}">
                <a16:creationId xmlns:a16="http://schemas.microsoft.com/office/drawing/2014/main" id="{94091561-A003-4450-AB30-41B471F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20-35 лет</a:t>
            </a:r>
          </a:p>
        </p:txBody>
      </p:sp>
      <p:sp>
        <p:nvSpPr>
          <p:cNvPr id="6" name="Мы начинаем с людей с регулярными&#10;платежами и фина">
            <a:extLst xmlns:a="http://schemas.openxmlformats.org/drawingml/2006/main">
              <a:ext uri="{FF2B5EF4-FFF2-40B4-BE49-F238E27FC236}">
                <a16:creationId xmlns:a16="http://schemas.microsoft.com/office/drawing/2014/main" id="{A4C021E5-E8D1-4D84-B28C-E9BBB9B1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5715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Мы начинаем с людей с регулярными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платежами и финансовой целью.</a:t>
            </a:r>
          </a:p>
        </p:txBody>
      </p:sp>
      <p:sp>
        <p:nvSpPr>
          <p:cNvPr id="7" name="Решение в знакомом канале">
            <a:extLst xmlns:a="http://schemas.openxmlformats.org/drawingml/2006/main">
              <a:ext uri="{FF2B5EF4-FFF2-40B4-BE49-F238E27FC236}">
                <a16:creationId xmlns:a16="http://schemas.microsoft.com/office/drawing/2014/main" id="{3977F835-35C9-4F11-B7AF-6B10BC1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Решение в знакомом канале</a:t>
            </a:r>
          </a:p>
        </p:txBody>
      </p:sp>
      <p:sp>
        <p:nvSpPr>
          <p:cNvPr id="8" name="Проверяем покупку в Telegram.&#10;Показываем исходные ">
            <a:extLst xmlns:a="http://schemas.openxmlformats.org/drawingml/2006/main">
              <a:ext uri="{FF2B5EF4-FFF2-40B4-BE49-F238E27FC236}">
                <a16:creationId xmlns:a16="http://schemas.microsoft.com/office/drawing/2014/main" id="{82CAFA35-E033-4394-9FB8-5001339E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5905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Проверяем покупку в Telegram.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Показываем исходные данные и последствия.</a:t>
            </a:r>
          </a:p>
        </p:txBody>
      </p:sp>
      <p:sp>
        <p:nvSpPr>
          <p:cNvPr id="9" name="Фиксированный и нерегулярный доход&#10;исследуем отдел">
            <a:extLst xmlns:a="http://schemas.openxmlformats.org/drawingml/2006/main">
              <a:ext uri="{FF2B5EF4-FFF2-40B4-BE49-F238E27FC236}">
                <a16:creationId xmlns:a16="http://schemas.microsoft.com/office/drawing/2014/main" id="{406BA2DD-C998-43A8-AA3E-2313CE52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Фиксированный и нерегулярный доход</a:t>
            </a:r>
          </a:p>
          <a:p xmlns:a="http://schemas.openxmlformats.org/drawingml/2006/main">
            <a:pPr algn="l">
              <a:defRPr sz="187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исследуем отдельно.</a:t>
            </a:r>
          </a:p>
        </p:txBody>
      </p:sp>
      <p:sp>
        <p:nvSpPr>
          <p:cNvPr id="10" name="Сегмент, удобство канала и повторяемость потребнос">
            <a:extLst xmlns:a="http://schemas.openxmlformats.org/drawingml/2006/main">
              <a:ext uri="{FF2B5EF4-FFF2-40B4-BE49-F238E27FC236}">
                <a16:creationId xmlns:a16="http://schemas.microsoft.com/office/drawing/2014/main" id="{0EB42C28-A62D-49E9-A56A-98D8E0AE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Сегмент, удобство канала и повторяемость потребности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1514065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6396a3b1042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Можно купить наушники?">
            <a:extLst xmlns:a="http://schemas.openxmlformats.org/drawingml/2006/main">
              <a:ext uri="{FF2B5EF4-FFF2-40B4-BE49-F238E27FC236}">
                <a16:creationId xmlns:a16="http://schemas.microsoft.com/office/drawing/2014/main" id="{6E27C411-932A-4962-9451-41BC0D05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Можно купить наушники?</a:t>
            </a:r>
          </a:p>
        </p:txBody>
      </p:sp>
      <p:sp>
        <p:nvSpPr>
          <p:cNvPr id="3" name="Иллюстративный сценарий: цена 12 000 ₽">
            <a:extLst xmlns:a="http://schemas.openxmlformats.org/drawingml/2006/main">
              <a:ext uri="{FF2B5EF4-FFF2-40B4-BE49-F238E27FC236}">
                <a16:creationId xmlns:a16="http://schemas.microsoft.com/office/drawing/2014/main" id="{A1C15A40-9A7F-4E99-AC1E-6C1637E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Иллюстративный сценарий: цена 12 000 ₽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3DA447A9-C213-4428-A95A-3860347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120 000 − 45 000 − 30 000 − 18 000">
            <a:extLst xmlns:a="http://schemas.openxmlformats.org/drawingml/2006/main">
              <a:ext uri="{FF2B5EF4-FFF2-40B4-BE49-F238E27FC236}">
                <a16:creationId xmlns:a16="http://schemas.microsoft.com/office/drawing/2014/main" id="{DFEF4871-3D6D-4F6E-962A-442B33C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7953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120 000 − 45 000 − 30 000 − 18 000</a:t>
            </a:r>
          </a:p>
        </p:txBody>
      </p:sp>
      <p:sp>
        <p:nvSpPr>
          <p:cNvPr id="6" name="Остаток       Платежи       Резерв       Базовые р">
            <a:extLst xmlns:a="http://schemas.openxmlformats.org/drawingml/2006/main">
              <a:ext uri="{FF2B5EF4-FFF2-40B4-BE49-F238E27FC236}">
                <a16:creationId xmlns:a16="http://schemas.microsoft.com/office/drawing/2014/main" id="{E60C519A-1198-4954-B2FB-1B35E3A8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Остаток       Платежи       Резерв       Базовые расходы</a:t>
            </a:r>
          </a:p>
        </p:txBody>
      </p:sp>
      <p:sp>
        <p:nvSpPr>
          <p:cNvPr id="7" name="27 000 ₽">
            <a:extLst xmlns:a="http://schemas.openxmlformats.org/drawingml/2006/main">
              <a:ext uri="{FF2B5EF4-FFF2-40B4-BE49-F238E27FC236}">
                <a16:creationId xmlns:a16="http://schemas.microsoft.com/office/drawing/2014/main" id="{E8762DB3-EC30-40AD-875D-5E4983B9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27 000 ₽</a:t>
            </a:r>
          </a:p>
        </p:txBody>
      </p:sp>
      <p:sp>
        <p:nvSpPr>
          <p:cNvPr id="8" name="До покупки">
            <a:extLst xmlns:a="http://schemas.openxmlformats.org/drawingml/2006/main">
              <a:ext uri="{FF2B5EF4-FFF2-40B4-BE49-F238E27FC236}">
                <a16:creationId xmlns:a16="http://schemas.microsoft.com/office/drawing/2014/main" id="{D9F66632-8941-422A-BEA1-A7081C38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До покупки</a:t>
            </a:r>
          </a:p>
        </p:txBody>
      </p:sp>
      <p:sp>
        <p:nvSpPr>
          <p:cNvPr id="9" name="15 000 ₽">
            <a:extLst xmlns:a="http://schemas.openxmlformats.org/drawingml/2006/main">
              <a:ext uri="{FF2B5EF4-FFF2-40B4-BE49-F238E27FC236}">
                <a16:creationId xmlns:a16="http://schemas.microsoft.com/office/drawing/2014/main" id="{5254C07E-AACF-41BA-A078-9C94D8B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14750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BB91"/>
                </a:solidFill>
                <a:latin typeface="Arial"/>
                <a:ea typeface="Arial"/>
                <a:cs typeface="Arial"/>
              </a:rPr>
              <a:t>15 000 ₽</a:t>
            </a:r>
          </a:p>
        </p:txBody>
      </p:sp>
      <p:sp>
        <p:nvSpPr>
          <p:cNvPr id="10" name="После покупки">
            <a:extLst xmlns:a="http://schemas.openxmlformats.org/drawingml/2006/main">
              <a:ext uri="{FF2B5EF4-FFF2-40B4-BE49-F238E27FC236}">
                <a16:creationId xmlns:a16="http://schemas.microsoft.com/office/drawing/2014/main" id="{304DCFF3-BC5A-43DE-9AE7-39B1AF41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434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После покупки</a:t>
            </a:r>
          </a:p>
        </p:txBody>
      </p:sp>
      <p:sp>
        <p:nvSpPr>
          <p:cNvPr id="11" name="Дневной ориентир: 1 928 ₽ до покупки, 1 071 ₽ посл">
            <a:extLst xmlns:a="http://schemas.openxmlformats.org/drawingml/2006/main">
              <a:ext uri="{FF2B5EF4-FFF2-40B4-BE49-F238E27FC236}">
                <a16:creationId xmlns:a16="http://schemas.microsoft.com/office/drawing/2014/main" id="{F9F33807-A4D4-451D-8C95-B26591C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828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Дневной ориентир: 1 928 ₽ до покупки, 1 071 ₽ после.</a:t>
            </a:r>
          </a:p>
          <a:p xmlns:a="http://schemas.openxmlformats.org/drawingml/2006/main">
            <a:pPr algn="l">
              <a:defRPr sz="18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Период: 12-25 сентября включительно, 14 дней.</a:t>
            </a:r>
          </a:p>
        </p:txBody>
      </p:sp>
      <p:sp>
        <p:nvSpPr>
          <p:cNvPr id="12" name="Пример. Доход 25 сентября учитываем только после з">
            <a:extLst xmlns:a="http://schemas.openxmlformats.org/drawingml/2006/main">
              <a:ext uri="{FF2B5EF4-FFF2-40B4-BE49-F238E27FC236}">
                <a16:creationId xmlns:a16="http://schemas.microsoft.com/office/drawing/2014/main" id="{B030A980-6E59-4FAA-98D7-D0DD099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Пример. Доход 25 сентября учитываем только после зачисления; защищенную цель отдельно не задаём.</a:t>
            </a:r>
          </a:p>
        </p:txBody>
      </p:sp>
    </p:spTree>
    <p:extLst>
      <p:ext uri="{BB962C8B-B14F-4D97-AF65-F5344CB8AC3E}">
        <p14:creationId xmlns:p14="http://schemas.microsoft.com/office/powerpoint/2010/main" val="92777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3206d97b047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Как мы планируем считать">
            <a:extLst xmlns:a="http://schemas.openxmlformats.org/drawingml/2006/main">
              <a:ext uri="{FF2B5EF4-FFF2-40B4-BE49-F238E27FC236}">
                <a16:creationId xmlns:a16="http://schemas.microsoft.com/office/drawing/2014/main" id="{CA340202-FAF9-4708-B7F2-8D55C29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Как мы планируем считать</a:t>
            </a:r>
          </a:p>
        </p:txBody>
      </p:sp>
      <p:sp>
        <p:nvSpPr>
          <p:cNvPr id="3" name="Прозрачность расчета и подтверждение данных">
            <a:extLst xmlns:a="http://schemas.openxmlformats.org/drawingml/2006/main">
              <a:ext uri="{FF2B5EF4-FFF2-40B4-BE49-F238E27FC236}">
                <a16:creationId xmlns:a16="http://schemas.microsoft.com/office/drawing/2014/main" id="{8B343758-7739-46D8-98BE-3CF8971A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Прозрачность расчета и подтверждение данных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1513AF6C-D7B1-4C96-813E-72173900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Движок">
            <a:extLst xmlns:a="http://schemas.openxmlformats.org/drawingml/2006/main">
              <a:ext uri="{FF2B5EF4-FFF2-40B4-BE49-F238E27FC236}">
                <a16:creationId xmlns:a16="http://schemas.microsoft.com/office/drawing/2014/main" id="{3D11D71E-DC1B-4A5C-BECE-E014C98C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Движок</a:t>
            </a:r>
          </a:p>
        </p:txBody>
      </p:sp>
      <p:sp>
        <p:nvSpPr>
          <p:cNvPr id="6" name="Рассчитывает бюджет и сценарии.&#10;Хранит версии данн">
            <a:extLst xmlns:a="http://schemas.openxmlformats.org/drawingml/2006/main">
              <a:ext uri="{FF2B5EF4-FFF2-40B4-BE49-F238E27FC236}">
                <a16:creationId xmlns:a16="http://schemas.microsoft.com/office/drawing/2014/main" id="{C29D240C-8AAA-48B5-B2A6-4BFE0D92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619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Рассчитывает бюджет и сценарии.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Хранит версии данных и правила вычетов.</a:t>
            </a:r>
          </a:p>
        </p:txBody>
      </p:sp>
      <p:sp>
        <p:nvSpPr>
          <p:cNvPr id="7" name="LLM">
            <a:extLst xmlns:a="http://schemas.openxmlformats.org/drawingml/2006/main">
              <a:ext uri="{FF2B5EF4-FFF2-40B4-BE49-F238E27FC236}">
                <a16:creationId xmlns:a16="http://schemas.microsoft.com/office/drawing/2014/main" id="{AB0F3F79-A384-49FA-B938-F41D432E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685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8" name="Извлекает черновики из запросов и документов.&#10;Объя">
            <a:extLst xmlns:a="http://schemas.openxmlformats.org/drawingml/2006/main">
              <a:ext uri="{FF2B5EF4-FFF2-40B4-BE49-F238E27FC236}">
                <a16:creationId xmlns:a16="http://schemas.microsoft.com/office/drawing/2014/main" id="{1800AD1F-4A7C-4127-AB5E-B65C7194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685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Извлекает черновики из запросов и документов.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Объясняет готовый результат движка.</a:t>
            </a:r>
          </a:p>
        </p:txBody>
      </p:sp>
      <p:sp>
        <p:nvSpPr>
          <p:cNvPr id="9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B8BF79B0-A4BC-4040-9DF8-C0A523F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10" name="Подтверждает данные и сам решает,&#10;совершать ли пок">
            <a:extLst xmlns:a="http://schemas.openxmlformats.org/drawingml/2006/main">
              <a:ext uri="{FF2B5EF4-FFF2-40B4-BE49-F238E27FC236}">
                <a16:creationId xmlns:a16="http://schemas.microsoft.com/office/drawing/2014/main" id="{A73086DE-0478-40BD-AC40-6521976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619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Подтверждает данные и сам решает,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совершать ли покупку.</a:t>
            </a:r>
          </a:p>
        </p:txBody>
      </p:sp>
      <p:sp>
        <p:nvSpPr>
          <p:cNvPr id="11" name="При дефиците показываем минус. При конфликте данны">
            <a:extLst xmlns:a="http://schemas.openxmlformats.org/drawingml/2006/main">
              <a:ext uri="{FF2B5EF4-FFF2-40B4-BE49-F238E27FC236}">
                <a16:creationId xmlns:a16="http://schemas.microsoft.com/office/drawing/2014/main" id="{9712E37D-6519-43A0-86ED-77815D9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При дефиците показываем минус. При конфликте данных сначала уточняем расчет.</a:t>
            </a:r>
          </a:p>
        </p:txBody>
      </p:sp>
    </p:spTree>
    <p:extLst>
      <p:ext uri="{BB962C8B-B14F-4D97-AF65-F5344CB8AC3E}">
        <p14:creationId xmlns:p14="http://schemas.microsoft.com/office/powerpoint/2010/main" val="160027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0fc216eda4d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Первая версия">
            <a:extLst xmlns:a="http://schemas.openxmlformats.org/drawingml/2006/main">
              <a:ext uri="{FF2B5EF4-FFF2-40B4-BE49-F238E27FC236}">
                <a16:creationId xmlns:a16="http://schemas.microsoft.com/office/drawing/2014/main" id="{41A7D68F-FE7A-4C20-A414-8359129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Первая версия</a:t>
            </a:r>
          </a:p>
        </p:txBody>
      </p:sp>
      <p:sp>
        <p:nvSpPr>
          <p:cNvPr id="3" name="Мы планируем Telegram-бота и Mini App">
            <a:extLst xmlns:a="http://schemas.openxmlformats.org/drawingml/2006/main">
              <a:ext uri="{FF2B5EF4-FFF2-40B4-BE49-F238E27FC236}">
                <a16:creationId xmlns:a16="http://schemas.microsoft.com/office/drawing/2014/main" id="{7CF408C3-F2B3-442D-A999-9E01D82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Мы планируем Telegram-бота и Mini App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5D62DDB0-E99D-4B88-917A-44B7CD53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Первый законченный путь">
            <a:extLst xmlns:a="http://schemas.openxmlformats.org/drawingml/2006/main">
              <a:ext uri="{FF2B5EF4-FFF2-40B4-BE49-F238E27FC236}">
                <a16:creationId xmlns:a16="http://schemas.microsoft.com/office/drawing/2014/main" id="{07567576-CD2F-4E5F-B2CD-0B04676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Первый законченный путь</a:t>
            </a:r>
          </a:p>
        </p:txBody>
      </p:sp>
      <p:sp>
        <p:nvSpPr>
          <p:cNvPr id="6" name="Ввод данных, вопрос о покупке,&#10;сценарий и проверка">
            <a:extLst xmlns:a="http://schemas.openxmlformats.org/drawingml/2006/main">
              <a:ext uri="{FF2B5EF4-FFF2-40B4-BE49-F238E27FC236}">
                <a16:creationId xmlns:a16="http://schemas.microsoft.com/office/drawing/2014/main" id="{ECD0A71B-AC9A-479A-B48A-5C57203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619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Ввод данных, вопрос о покупке,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сценарий и проверка исходных сумм.</a:t>
            </a:r>
          </a:p>
        </p:txBody>
      </p:sp>
      <p:sp>
        <p:nvSpPr>
          <p:cNvPr id="7" name="После устойчивого базового сценария">
            <a:extLst xmlns:a="http://schemas.openxmlformats.org/drawingml/2006/main">
              <a:ext uri="{FF2B5EF4-FFF2-40B4-BE49-F238E27FC236}">
                <a16:creationId xmlns:a16="http://schemas.microsoft.com/office/drawing/2014/main" id="{FF26CAE6-0D46-49D0-863E-502642DB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После устойчивого базового сценария</a:t>
            </a:r>
          </a:p>
        </p:txBody>
      </p:sp>
      <p:sp>
        <p:nvSpPr>
          <p:cNvPr id="8" name="Голос, чеки, скриншоты и выписки&#10;как черновики для">
            <a:extLst xmlns:a="http://schemas.openxmlformats.org/drawingml/2006/main">
              <a:ext uri="{FF2B5EF4-FFF2-40B4-BE49-F238E27FC236}">
                <a16:creationId xmlns:a16="http://schemas.microsoft.com/office/drawing/2014/main" id="{3A8FBD89-6F5B-49C9-9195-8CC22EE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6477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Голос, чеки, скриншоты и выписки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как черновики для подтверждения.</a:t>
            </a:r>
          </a:p>
        </p:txBody>
      </p:sp>
      <p:sp>
        <p:nvSpPr>
          <p:cNvPr id="9" name="Без банковского пароля и подключения счета.&#10;Цена т">
            <a:extLst xmlns:a="http://schemas.openxmlformats.org/drawingml/2006/main">
              <a:ext uri="{FF2B5EF4-FFF2-40B4-BE49-F238E27FC236}">
                <a16:creationId xmlns:a16="http://schemas.microsoft.com/office/drawing/2014/main" id="{59D5D8D9-A187-482E-AF28-63598AF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695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Без банковского пароля и подключения счета.</a:t>
            </a:r>
          </a:p>
          <a:p xmlns:a="http://schemas.openxmlformats.org/drawingml/2006/main">
            <a:pPr algn="l">
              <a:defRPr sz="187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Цена такого входа: данные нужно обновлять.</a:t>
            </a:r>
          </a:p>
        </p:txBody>
      </p:sp>
      <p:sp>
        <p:nvSpPr>
          <p:cNvPr id="10" name="План MVP. Инвестиции, кредиты и самостоятельные пе">
            <a:extLst xmlns:a="http://schemas.openxmlformats.org/drawingml/2006/main">
              <a:ext uri="{FF2B5EF4-FFF2-40B4-BE49-F238E27FC236}">
                <a16:creationId xmlns:a16="http://schemas.microsoft.com/office/drawing/2014/main" id="{ED79F8E6-C397-4BCC-AA1A-DBE743B1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План MVP. Инвестиции, кредиты и самостоятельные переводы не входят в первую версию.</a:t>
            </a:r>
          </a:p>
        </p:txBody>
      </p:sp>
    </p:spTree>
    <p:extLst>
      <p:ext uri="{BB962C8B-B14F-4D97-AF65-F5344CB8AC3E}">
        <p14:creationId xmlns:p14="http://schemas.microsoft.com/office/powerpoint/2010/main" val="12545511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8098807c14d4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Плейбук на 12 недель">
            <a:extLst xmlns:a="http://schemas.openxmlformats.org/drawingml/2006/main">
              <a:ext uri="{FF2B5EF4-FFF2-40B4-BE49-F238E27FC236}">
                <a16:creationId xmlns:a16="http://schemas.microsoft.com/office/drawing/2014/main" id="{29D11ADB-3187-4975-A09F-F6D1A16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Плейбук на 12 недель</a:t>
            </a:r>
          </a:p>
        </p:txBody>
      </p:sp>
      <p:sp>
        <p:nvSpPr>
          <p:cNvPr id="3" name="Плановые этапы из рабочего контекста">
            <a:extLst xmlns:a="http://schemas.openxmlformats.org/drawingml/2006/main">
              <a:ext uri="{FF2B5EF4-FFF2-40B4-BE49-F238E27FC236}">
                <a16:creationId xmlns:a16="http://schemas.microsoft.com/office/drawing/2014/main" id="{E708961F-2C3A-4BE2-AAC9-E88CFD15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Плановые этапы из рабочего контекста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F39F1454-AAC8-47F1-98CF-E009963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01-02">
            <a:extLst xmlns:a="http://schemas.openxmlformats.org/drawingml/2006/main">
              <a:ext uri="{FF2B5EF4-FFF2-40B4-BE49-F238E27FC236}">
                <a16:creationId xmlns:a16="http://schemas.microsoft.com/office/drawing/2014/main" id="{675F16DA-7561-4B8C-B2B5-85554D9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01-02</a:t>
            </a:r>
          </a:p>
        </p:txBody>
      </p:sp>
      <p:sp>
        <p:nvSpPr>
          <p:cNvPr id="6" name="30 интервью и ручной пилот">
            <a:extLst xmlns:a="http://schemas.openxmlformats.org/drawingml/2006/main">
              <a:ext uri="{FF2B5EF4-FFF2-40B4-BE49-F238E27FC236}">
                <a16:creationId xmlns:a16="http://schemas.microsoft.com/office/drawing/2014/main" id="{00BCE309-89ED-42F7-8E89-505E9C44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19350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30 интервью и ручной пилот</a:t>
            </a:r>
          </a:p>
        </p:txBody>
      </p:sp>
      <p:sp>
        <p:nvSpPr>
          <p:cNvPr id="7" name="03-04">
            <a:extLst xmlns:a="http://schemas.openxmlformats.org/drawingml/2006/main">
              <a:ext uri="{FF2B5EF4-FFF2-40B4-BE49-F238E27FC236}">
                <a16:creationId xmlns:a16="http://schemas.microsoft.com/office/drawing/2014/main" id="{E7FF8BAC-6AF1-42CA-866C-82DD0C0B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03-04</a:t>
            </a:r>
          </a:p>
        </p:txBody>
      </p:sp>
      <p:sp>
        <p:nvSpPr>
          <p:cNvPr id="8" name="Формула, прототип и финансовый движок">
            <a:extLst xmlns:a="http://schemas.openxmlformats.org/drawingml/2006/main">
              <a:ext uri="{FF2B5EF4-FFF2-40B4-BE49-F238E27FC236}">
                <a16:creationId xmlns:a16="http://schemas.microsoft.com/office/drawing/2014/main" id="{C518CAEE-8310-4D7E-9103-CFC5B974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8132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Формула, прототип и финансовый движок</a:t>
            </a:r>
          </a:p>
        </p:txBody>
      </p:sp>
      <p:sp>
        <p:nvSpPr>
          <p:cNvPr id="9" name="05-06">
            <a:extLst xmlns:a="http://schemas.openxmlformats.org/drawingml/2006/main">
              <a:ext uri="{FF2B5EF4-FFF2-40B4-BE49-F238E27FC236}">
                <a16:creationId xmlns:a16="http://schemas.microsoft.com/office/drawing/2014/main" id="{3638A8A3-F5EF-4EAB-B3DD-C5478E0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05-06</a:t>
            </a:r>
          </a:p>
        </p:txBody>
      </p:sp>
      <p:sp>
        <p:nvSpPr>
          <p:cNvPr id="10" name="Альфа, Mini App, 25-30 пользователей">
            <a:extLst xmlns:a="http://schemas.openxmlformats.org/drawingml/2006/main">
              <a:ext uri="{FF2B5EF4-FFF2-40B4-BE49-F238E27FC236}">
                <a16:creationId xmlns:a16="http://schemas.microsoft.com/office/drawing/2014/main" id="{F3B5953A-F8E2-4B79-8684-8CA3419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43300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Альфа, Mini App, 25-30 пользователей</a:t>
            </a:r>
          </a:p>
        </p:txBody>
      </p:sp>
      <p:sp>
        <p:nvSpPr>
          <p:cNvPr id="11" name="07-08">
            <a:extLst xmlns:a="http://schemas.openxmlformats.org/drawingml/2006/main">
              <a:ext uri="{FF2B5EF4-FFF2-40B4-BE49-F238E27FC236}">
                <a16:creationId xmlns:a16="http://schemas.microsoft.com/office/drawing/2014/main" id="{88074CCE-8305-4AF0-94B6-C49CD1C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07-08</a:t>
            </a:r>
          </a:p>
        </p:txBody>
      </p:sp>
      <p:sp>
        <p:nvSpPr>
          <p:cNvPr id="12" name="Импорт, активация, бета на 70+ человек">
            <a:extLst xmlns:a="http://schemas.openxmlformats.org/drawingml/2006/main">
              <a:ext uri="{FF2B5EF4-FFF2-40B4-BE49-F238E27FC236}">
                <a16:creationId xmlns:a16="http://schemas.microsoft.com/office/drawing/2014/main" id="{F48FDBB2-515E-494D-BC34-4EE84A5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0527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Импорт, активация, бета на 70+ человек</a:t>
            </a:r>
          </a:p>
        </p:txBody>
      </p:sp>
      <p:sp>
        <p:nvSpPr>
          <p:cNvPr id="13" name="09-10">
            <a:extLst xmlns:a="http://schemas.openxmlformats.org/drawingml/2006/main">
              <a:ext uri="{FF2B5EF4-FFF2-40B4-BE49-F238E27FC236}">
                <a16:creationId xmlns:a16="http://schemas.microsoft.com/office/drawing/2014/main" id="{162AEB8D-4228-4B91-9E21-A9C225F6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09-10</a:t>
            </a:r>
          </a:p>
        </p:txBody>
      </p:sp>
      <p:sp>
        <p:nvSpPr>
          <p:cNvPr id="14" name="Повторное использование и каналы">
            <a:extLst xmlns:a="http://schemas.openxmlformats.org/drawingml/2006/main">
              <a:ext uri="{FF2B5EF4-FFF2-40B4-BE49-F238E27FC236}">
                <a16:creationId xmlns:a16="http://schemas.microsoft.com/office/drawing/2014/main" id="{048F45EB-3D04-4249-A3F1-07270873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67250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Повторное использование и каналы</a:t>
            </a:r>
          </a:p>
        </p:txBody>
      </p:sp>
      <p:sp>
        <p:nvSpPr>
          <p:cNvPr id="15" name="11-12">
            <a:extLst xmlns:a="http://schemas.openxmlformats.org/drawingml/2006/main">
              <a:ext uri="{FF2B5EF4-FFF2-40B4-BE49-F238E27FC236}">
                <a16:creationId xmlns:a16="http://schemas.microsoft.com/office/drawing/2014/main" id="{1949D725-B704-4857-8FC9-9EB5189D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11-12</a:t>
            </a:r>
          </a:p>
        </p:txBody>
      </p:sp>
      <p:sp>
        <p:nvSpPr>
          <p:cNvPr id="16" name="Надёжность, экономика и решение о росте">
            <a:extLst xmlns:a="http://schemas.openxmlformats.org/drawingml/2006/main">
              <a:ext uri="{FF2B5EF4-FFF2-40B4-BE49-F238E27FC236}">
                <a16:creationId xmlns:a16="http://schemas.microsoft.com/office/drawing/2014/main" id="{B2A40E58-0CFD-43E2-8DBF-9DCCCECF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2922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Надёжность, экономика и решение о росте</a:t>
            </a:r>
          </a:p>
        </p:txBody>
      </p:sp>
      <p:sp>
        <p:nvSpPr>
          <p:cNvPr id="17" name="Все количества и сроки являются планом. Переходы м">
            <a:extLst xmlns:a="http://schemas.openxmlformats.org/drawingml/2006/main">
              <a:ext uri="{FF2B5EF4-FFF2-40B4-BE49-F238E27FC236}">
                <a16:creationId xmlns:a16="http://schemas.microsoft.com/office/drawing/2014/main" id="{8378704B-83F1-47C0-87A1-854D4AF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Все количества и сроки являются планом. Переходы между этапами зависят от результатов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58582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78f554aee4a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30 интервью и ручной пилот">
            <a:extLst xmlns:a="http://schemas.openxmlformats.org/drawingml/2006/main">
              <a:ext uri="{FF2B5EF4-FFF2-40B4-BE49-F238E27FC236}">
                <a16:creationId xmlns:a16="http://schemas.microsoft.com/office/drawing/2014/main" id="{9BAFFFA9-F631-4D2B-8814-A064F82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30 интервью и ручной пилот</a:t>
            </a:r>
          </a:p>
        </p:txBody>
      </p:sp>
      <p:sp>
        <p:nvSpPr>
          <p:cNvPr id="3" name="Мы проверяем реальное поведение">
            <a:extLst xmlns:a="http://schemas.openxmlformats.org/drawingml/2006/main">
              <a:ext uri="{FF2B5EF4-FFF2-40B4-BE49-F238E27FC236}">
                <a16:creationId xmlns:a16="http://schemas.microsoft.com/office/drawing/2014/main" id="{630A62CD-330B-4DFE-AF33-5267868E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Мы проверяем реальное поведение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A123D373-277D-4FED-B16F-17DB471F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Последняя покупка с сомнением">
            <a:extLst xmlns:a="http://schemas.openxmlformats.org/drawingml/2006/main">
              <a:ext uri="{FF2B5EF4-FFF2-40B4-BE49-F238E27FC236}">
                <a16:creationId xmlns:a16="http://schemas.microsoft.com/office/drawing/2014/main" id="{0D5DF8E6-4F1A-4C2B-875D-2370CD8D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Последняя покупка с сомнением</a:t>
            </a:r>
          </a:p>
        </p:txBody>
      </p:sp>
      <p:sp>
        <p:nvSpPr>
          <p:cNvPr id="6" name="Как человек решал? Что учитывал?&#10;Какое последствие">
            <a:extLst xmlns:a="http://schemas.openxmlformats.org/drawingml/2006/main">
              <a:ext uri="{FF2B5EF4-FFF2-40B4-BE49-F238E27FC236}">
                <a16:creationId xmlns:a16="http://schemas.microsoft.com/office/drawing/2014/main" id="{BDF9E177-EA57-406D-8BF0-1DAF9510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657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Как человек решал? Что учитывал?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Какое последствие оказалось неожиданным?</a:t>
            </a:r>
          </a:p>
        </p:txBody>
      </p:sp>
      <p:sp>
        <p:nvSpPr>
          <p:cNvPr id="7" name="Следующий реальный вопрос">
            <a:extLst xmlns:a="http://schemas.openxmlformats.org/drawingml/2006/main">
              <a:ext uri="{FF2B5EF4-FFF2-40B4-BE49-F238E27FC236}">
                <a16:creationId xmlns:a16="http://schemas.microsoft.com/office/drawing/2014/main" id="{90F56B2F-B731-439E-9A3D-502D85B9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429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Следующий реальный вопрос</a:t>
            </a:r>
          </a:p>
        </p:txBody>
      </p:sp>
      <p:sp>
        <p:nvSpPr>
          <p:cNvPr id="8" name="Дадим расчет вручную и проверим,&#10;вернётся ли челов">
            <a:extLst xmlns:a="http://schemas.openxmlformats.org/drawingml/2006/main">
              <a:ext uri="{FF2B5EF4-FFF2-40B4-BE49-F238E27FC236}">
                <a16:creationId xmlns:a16="http://schemas.microsoft.com/office/drawing/2014/main" id="{E8C823CC-B8A7-43B8-8E28-8598F339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6429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Дадим расчет вручную и проверим,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вернётся ли человек с новой покупкой.</a:t>
            </a:r>
          </a:p>
        </p:txBody>
      </p:sp>
      <p:sp>
        <p:nvSpPr>
          <p:cNvPr id="9" name="Сигнал доверия: участник может объяснить,&#10;откуда п">
            <a:extLst xmlns:a="http://schemas.openxmlformats.org/drawingml/2006/main">
              <a:ext uri="{FF2B5EF4-FFF2-40B4-BE49-F238E27FC236}">
                <a16:creationId xmlns:a16="http://schemas.microsoft.com/office/drawing/2014/main" id="{D6D2CA54-3683-4899-A1F3-37C9CEDE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Сигнал доверия: участник может объяснить,</a:t>
            </a:r>
          </a:p>
          <a:p xmlns:a="http://schemas.openxmlformats.org/drawingml/2006/main">
            <a:pPr algn="l">
              <a:defRPr sz="202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откуда появилась сумма.</a:t>
            </a:r>
          </a:p>
        </p:txBody>
      </p:sp>
      <p:sp>
        <p:nvSpPr>
          <p:cNvPr id="10" name="Точные вопросы, карточка кейса и правила ручной св">
            <a:extLst xmlns:a="http://schemas.openxmlformats.org/drawingml/2006/main">
              <a:ext uri="{FF2B5EF4-FFF2-40B4-BE49-F238E27FC236}">
                <a16:creationId xmlns:a16="http://schemas.microsoft.com/office/drawing/2014/main" id="{11B71B2A-A848-49AD-B5DA-1FBBEC8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Точные вопросы, карточка кейса и правила ручной сверки описаны в плейбуке.</a:t>
            </a:r>
          </a:p>
        </p:txBody>
      </p:sp>
    </p:spTree>
    <p:extLst>
      <p:ext uri="{BB962C8B-B14F-4D97-AF65-F5344CB8AC3E}">
        <p14:creationId xmlns:p14="http://schemas.microsoft.com/office/powerpoint/2010/main" val="429342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dbf0b340d47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Что мы будем измерять">
            <a:extLst xmlns:a="http://schemas.openxmlformats.org/drawingml/2006/main">
              <a:ext uri="{FF2B5EF4-FFF2-40B4-BE49-F238E27FC236}">
                <a16:creationId xmlns:a16="http://schemas.microsoft.com/office/drawing/2014/main" id="{7EBB6C8D-FCF9-4F71-B6DA-01EC2914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Что мы будем измерять</a:t>
            </a:r>
          </a:p>
        </p:txBody>
      </p:sp>
      <p:sp>
        <p:nvSpPr>
          <p:cNvPr id="3" name="Словарь метрик до первой беты">
            <a:extLst xmlns:a="http://schemas.openxmlformats.org/drawingml/2006/main">
              <a:ext uri="{FF2B5EF4-FFF2-40B4-BE49-F238E27FC236}">
                <a16:creationId xmlns:a16="http://schemas.microsoft.com/office/drawing/2014/main" id="{7183FAD7-63BC-45B9-AEDB-15E8856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Словарь метрик до первой беты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5315597B-D041-4D7A-98D9-AAC29D9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Активация">
            <a:extLst xmlns:a="http://schemas.openxmlformats.org/drawingml/2006/main">
              <a:ext uri="{FF2B5EF4-FFF2-40B4-BE49-F238E27FC236}">
                <a16:creationId xmlns:a16="http://schemas.microsoft.com/office/drawing/2014/main" id="{295B9BC6-7237-4283-846E-9DFE21D1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Активация</a:t>
            </a:r>
          </a:p>
        </p:txBody>
      </p:sp>
      <p:sp>
        <p:nvSpPr>
          <p:cNvPr id="6" name="Данные подтверждены, первый расчет получен.">
            <a:extLst xmlns:a="http://schemas.openxmlformats.org/drawingml/2006/main">
              <a:ext uri="{FF2B5EF4-FFF2-40B4-BE49-F238E27FC236}">
                <a16:creationId xmlns:a16="http://schemas.microsoft.com/office/drawing/2014/main" id="{70D82FD9-0B63-4F5A-AE1B-9E74AE00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Данные подтверждены, первый расчет получен.</a:t>
            </a:r>
          </a:p>
        </p:txBody>
      </p:sp>
      <p:sp>
        <p:nvSpPr>
          <p:cNvPr id="7" name="Возврат с пользой">
            <a:extLst xmlns:a="http://schemas.openxmlformats.org/drawingml/2006/main">
              <a:ext uri="{FF2B5EF4-FFF2-40B4-BE49-F238E27FC236}">
                <a16:creationId xmlns:a16="http://schemas.microsoft.com/office/drawing/2014/main" id="{2A93B356-2462-48BD-B0B3-AF88D25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Возврат с пользой</a:t>
            </a:r>
          </a:p>
        </p:txBody>
      </p:sp>
      <p:sp>
        <p:nvSpPr>
          <p:cNvPr id="8" name="Новый расчет или обновление плана в течение недели">
            <a:extLst xmlns:a="http://schemas.openxmlformats.org/drawingml/2006/main">
              <a:ext uri="{FF2B5EF4-FFF2-40B4-BE49-F238E27FC236}">
                <a16:creationId xmlns:a16="http://schemas.microsoft.com/office/drawing/2014/main" id="{14603661-8820-4D6F-8E16-4A76C1F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Новый расчет или обновление плана в течение недели.</a:t>
            </a:r>
          </a:p>
        </p:txBody>
      </p:sp>
      <p:sp>
        <p:nvSpPr>
          <p:cNvPr id="9" name="D1 / D7 / D30">
            <a:extLst xmlns:a="http://schemas.openxmlformats.org/drawingml/2006/main">
              <a:ext uri="{FF2B5EF4-FFF2-40B4-BE49-F238E27FC236}">
                <a16:creationId xmlns:a16="http://schemas.microsoft.com/office/drawing/2014/main" id="{A5FECE1C-96C2-48F9-B82D-AA483B13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D1 / D7 / D30</a:t>
            </a:r>
          </a:p>
        </p:txBody>
      </p:sp>
      <p:sp>
        <p:nvSpPr>
          <p:cNvPr id="10" name="Значимое действие в конкретный день после активаци">
            <a:extLst xmlns:a="http://schemas.openxmlformats.org/drawingml/2006/main">
              <a:ext uri="{FF2B5EF4-FFF2-40B4-BE49-F238E27FC236}">
                <a16:creationId xmlns:a16="http://schemas.microsoft.com/office/drawing/2014/main" id="{B239A33F-B29A-44EE-B088-1F9E4A36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Значимое действие в конкретный день после активации.</a:t>
            </a:r>
          </a:p>
        </p:txBody>
      </p:sp>
      <p:sp>
        <p:nvSpPr>
          <p:cNvPr id="11" name="Качество">
            <a:extLst xmlns:a="http://schemas.openxmlformats.org/drawingml/2006/main">
              <a:ext uri="{FF2B5EF4-FFF2-40B4-BE49-F238E27FC236}">
                <a16:creationId xmlns:a16="http://schemas.microsoft.com/office/drawing/2014/main" id="{4A2762AD-491D-47C0-A451-0A9A5F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12" name="Ошибки сумм, исправления данных и причины блокиров">
            <a:extLst xmlns:a="http://schemas.openxmlformats.org/drawingml/2006/main">
              <a:ext uri="{FF2B5EF4-FFF2-40B4-BE49-F238E27FC236}">
                <a16:creationId xmlns:a16="http://schemas.microsoft.com/office/drawing/2014/main" id="{8F4069F3-7B8F-457F-84FC-79243F17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Ошибки сумм, исправления данных и причины блокировки.</a:t>
            </a:r>
          </a:p>
        </p:txBody>
      </p:sp>
      <p:sp>
        <p:nvSpPr>
          <p:cNvPr id="13" name="Целевые значения, окна и стоимость привлечения мы ">
            <a:extLst xmlns:a="http://schemas.openxmlformats.org/drawingml/2006/main">
              <a:ext uri="{FF2B5EF4-FFF2-40B4-BE49-F238E27FC236}">
                <a16:creationId xmlns:a16="http://schemas.microsoft.com/office/drawing/2014/main" id="{1C42DFF4-137C-4343-A417-661AA4C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Целевые значения, окна и стоимость привлечения мы зададим после пилота. Текущих метрик продукта нет.</a:t>
            </a:r>
          </a:p>
        </p:txBody>
      </p:sp>
    </p:spTree>
    <p:extLst>
      <p:ext uri="{BB962C8B-B14F-4D97-AF65-F5344CB8AC3E}">
        <p14:creationId xmlns:p14="http://schemas.microsoft.com/office/powerpoint/2010/main" val="1464051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a89dbf24e49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Монетизация и первые каналы">
            <a:extLst xmlns:a="http://schemas.openxmlformats.org/drawingml/2006/main">
              <a:ext uri="{FF2B5EF4-FFF2-40B4-BE49-F238E27FC236}">
                <a16:creationId xmlns:a16="http://schemas.microsoft.com/office/drawing/2014/main" id="{652643C3-13E8-4F99-83EC-1ECAC387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Монетизация и первые каналы</a:t>
            </a:r>
          </a:p>
        </p:txBody>
      </p:sp>
      <p:sp>
        <p:nvSpPr>
          <p:cNvPr id="3" name="Рабочие гипотезы">
            <a:extLst xmlns:a="http://schemas.openxmlformats.org/drawingml/2006/main">
              <a:ext uri="{FF2B5EF4-FFF2-40B4-BE49-F238E27FC236}">
                <a16:creationId xmlns:a16="http://schemas.microsoft.com/office/drawing/2014/main" id="{75650C45-7B07-448C-A55B-27D45B63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Рабочие гипотезы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7B3A791E-215C-46C4-874E-D5306A12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За что человек может платить">
            <a:extLst xmlns:a="http://schemas.openxmlformats.org/drawingml/2006/main">
              <a:ext uri="{FF2B5EF4-FFF2-40B4-BE49-F238E27FC236}">
                <a16:creationId xmlns:a16="http://schemas.microsoft.com/office/drawing/2014/main" id="{24C34453-7E49-4146-903B-F1111E3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666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За что человек может платить</a:t>
            </a:r>
          </a:p>
        </p:txBody>
      </p:sp>
      <p:sp>
        <p:nvSpPr>
          <p:cNvPr id="6" name="Регулярная помощь перед покупкой&#10;и понятный обзор ">
            <a:extLst xmlns:a="http://schemas.openxmlformats.org/drawingml/2006/main">
              <a:ext uri="{FF2B5EF4-FFF2-40B4-BE49-F238E27FC236}">
                <a16:creationId xmlns:a16="http://schemas.microsoft.com/office/drawing/2014/main" id="{AB53E926-4702-479B-A8F0-54350A93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666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Регулярная помощь перед покупкой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и понятный обзор финансового плана.</a:t>
            </a:r>
          </a:p>
        </p:txBody>
      </p:sp>
      <p:sp>
        <p:nvSpPr>
          <p:cNvPr id="7" name="Где проверяем спрос">
            <a:extLst xmlns:a="http://schemas.openxmlformats.org/drawingml/2006/main">
              <a:ext uri="{FF2B5EF4-FFF2-40B4-BE49-F238E27FC236}">
                <a16:creationId xmlns:a16="http://schemas.microsoft.com/office/drawing/2014/main" id="{0543FCBB-349C-4516-9213-47C6F44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700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Где проверяем спрос</a:t>
            </a:r>
          </a:p>
        </p:txBody>
      </p:sp>
      <p:sp>
        <p:nvSpPr>
          <p:cNvPr id="8" name="Telegram-сообщества, финансовые авторы,&#10;короткие в">
            <a:extLst xmlns:a="http://schemas.openxmlformats.org/drawingml/2006/main">
              <a:ext uri="{FF2B5EF4-FFF2-40B4-BE49-F238E27FC236}">
                <a16:creationId xmlns:a16="http://schemas.microsoft.com/office/drawing/2014/main" id="{24630E7D-F8EB-433D-9C9B-AE279C9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70008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Telegram-сообщества, финансовые авторы,</a:t>
            </a:r>
          </a:p>
          <a:p xmlns:a="http://schemas.openxmlformats.org/drawingml/2006/main">
            <a:pPr algn="l">
              <a:defRPr sz="202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короткие видео и рекомендации пользователей.</a:t>
            </a:r>
          </a:p>
        </p:txBody>
      </p:sp>
      <p:sp>
        <p:nvSpPr>
          <p:cNvPr id="9" name="Подписку и цену проверяем после ценности.&#10;Платное ">
            <a:extLst xmlns:a="http://schemas.openxmlformats.org/drawingml/2006/main">
              <a:ext uri="{FF2B5EF4-FFF2-40B4-BE49-F238E27FC236}">
                <a16:creationId xmlns:a16="http://schemas.microsoft.com/office/drawing/2014/main" id="{960496D4-12E8-405B-9C5F-E026679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Подписку и цену проверяем после ценности.</a:t>
            </a:r>
          </a:p>
          <a:p xmlns:a="http://schemas.openxmlformats.org/drawingml/2006/main">
            <a:pPr algn="l">
              <a:defRPr sz="2025" b="0">
                <a:solidFill>
                  <a:srgbClr val="FFBB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BB91"/>
                </a:solidFill>
                <a:latin typeface="Arial"/>
                <a:ea typeface="Arial"/>
                <a:cs typeface="Arial"/>
              </a:rPr>
              <a:t>Платное привлечение привязываем к удержанию.</a:t>
            </a:r>
          </a:p>
        </p:txBody>
      </p:sp>
      <p:sp>
        <p:nvSpPr>
          <p:cNvPr id="10" name="Цена, бюджеты, CAC и готовность платить пока неизв">
            <a:extLst xmlns:a="http://schemas.openxmlformats.org/drawingml/2006/main">
              <a:ext uri="{FF2B5EF4-FFF2-40B4-BE49-F238E27FC236}">
                <a16:creationId xmlns:a16="http://schemas.microsoft.com/office/drawing/2014/main" id="{740307C5-A7DB-4491-9D47-DADF71CE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Цена, бюджеты, CAC и готовность платить пока неизвестны.</a:t>
            </a:r>
          </a:p>
        </p:txBody>
      </p:sp>
    </p:spTree>
    <p:extLst>
      <p:ext uri="{BB962C8B-B14F-4D97-AF65-F5344CB8AC3E}">
        <p14:creationId xmlns:p14="http://schemas.microsoft.com/office/powerpoint/2010/main" val="290502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3f772d10443e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Команда из пяти человек">
            <a:extLst xmlns:a="http://schemas.openxmlformats.org/drawingml/2006/main">
              <a:ext uri="{FF2B5EF4-FFF2-40B4-BE49-F238E27FC236}">
                <a16:creationId xmlns:a16="http://schemas.microsoft.com/office/drawing/2014/main" id="{910384C5-771D-457C-8B4D-AD6F494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Команда из пяти человек</a:t>
            </a:r>
          </a:p>
        </p:txBody>
      </p:sp>
      <p:sp>
        <p:nvSpPr>
          <p:cNvPr id="3" name="Мы закрываем исследование и разработку">
            <a:extLst xmlns:a="http://schemas.openxmlformats.org/drawingml/2006/main">
              <a:ext uri="{FF2B5EF4-FFF2-40B4-BE49-F238E27FC236}">
                <a16:creationId xmlns:a16="http://schemas.microsoft.com/office/drawing/2014/main" id="{4529F4AD-9091-464C-A251-1805491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Мы закрываем исследование и разработку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46B947B4-AC11-4F53-B690-710F0EB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Всеволод">
            <a:extLst xmlns:a="http://schemas.openxmlformats.org/drawingml/2006/main">
              <a:ext uri="{FF2B5EF4-FFF2-40B4-BE49-F238E27FC236}">
                <a16:creationId xmlns:a16="http://schemas.microsoft.com/office/drawing/2014/main" id="{ECBB97F9-0EF1-4D44-9A86-10A7593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Всеволод</a:t>
            </a:r>
          </a:p>
        </p:txBody>
      </p:sp>
      <p:sp>
        <p:nvSpPr>
          <p:cNvPr id="6" name="Продукт, исследования, frontend, LLM">
            <a:extLst xmlns:a="http://schemas.openxmlformats.org/drawingml/2006/main">
              <a:ext uri="{FF2B5EF4-FFF2-40B4-BE49-F238E27FC236}">
                <a16:creationId xmlns:a16="http://schemas.microsoft.com/office/drawing/2014/main" id="{61B612FA-8FA2-4141-8C5A-24035255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Продукт, исследования, frontend, LLM</a:t>
            </a:r>
          </a:p>
        </p:txBody>
      </p:sp>
      <p:sp>
        <p:nvSpPr>
          <p:cNvPr id="7" name="Антон">
            <a:extLst xmlns:a="http://schemas.openxmlformats.org/drawingml/2006/main">
              <a:ext uri="{FF2B5EF4-FFF2-40B4-BE49-F238E27FC236}">
                <a16:creationId xmlns:a16="http://schemas.microsoft.com/office/drawing/2014/main" id="{73946F9E-1EF5-40A1-84E8-43B04AF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Антон</a:t>
            </a:r>
          </a:p>
        </p:txBody>
      </p:sp>
      <p:sp>
        <p:nvSpPr>
          <p:cNvPr id="8" name="GTM, продажи, каналы и партнерства">
            <a:extLst xmlns:a="http://schemas.openxmlformats.org/drawingml/2006/main">
              <a:ext uri="{FF2B5EF4-FFF2-40B4-BE49-F238E27FC236}">
                <a16:creationId xmlns:a16="http://schemas.microsoft.com/office/drawing/2014/main" id="{7C100D66-5339-4524-9865-1922CB18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GTM, продажи, каналы и партнерства</a:t>
            </a:r>
          </a:p>
        </p:txBody>
      </p:sp>
      <p:sp>
        <p:nvSpPr>
          <p:cNvPr id="9" name="Максим">
            <a:extLst xmlns:a="http://schemas.openxmlformats.org/drawingml/2006/main">
              <a:ext uri="{FF2B5EF4-FFF2-40B4-BE49-F238E27FC236}">
                <a16:creationId xmlns:a16="http://schemas.microsoft.com/office/drawing/2014/main" id="{818357C5-7B16-47D1-9172-0C02CA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Максим</a:t>
            </a:r>
          </a:p>
        </p:txBody>
      </p:sp>
      <p:sp>
        <p:nvSpPr>
          <p:cNvPr id="10" name="Backend, данные и финансовый движок">
            <a:extLst xmlns:a="http://schemas.openxmlformats.org/drawingml/2006/main">
              <a:ext uri="{FF2B5EF4-FFF2-40B4-BE49-F238E27FC236}">
                <a16:creationId xmlns:a16="http://schemas.microsoft.com/office/drawing/2014/main" id="{A8D0D000-9491-4A89-AE16-98602BC0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Backend, данные и финансовый движок</a:t>
            </a:r>
          </a:p>
        </p:txBody>
      </p:sp>
      <p:sp>
        <p:nvSpPr>
          <p:cNvPr id="11" name="Константин">
            <a:extLst xmlns:a="http://schemas.openxmlformats.org/drawingml/2006/main">
              <a:ext uri="{FF2B5EF4-FFF2-40B4-BE49-F238E27FC236}">
                <a16:creationId xmlns:a16="http://schemas.microsoft.com/office/drawing/2014/main" id="{91FDEAC2-055B-48DE-9320-1F5C54B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Константин</a:t>
            </a:r>
          </a:p>
        </p:txBody>
      </p:sp>
      <p:sp>
        <p:nvSpPr>
          <p:cNvPr id="12" name="Архитектура, full-stack и инфраструктура">
            <a:extLst xmlns:a="http://schemas.openxmlformats.org/drawingml/2006/main">
              <a:ext uri="{FF2B5EF4-FFF2-40B4-BE49-F238E27FC236}">
                <a16:creationId xmlns:a16="http://schemas.microsoft.com/office/drawing/2014/main" id="{EE90050C-DC92-4531-8743-6791220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Архитектура, full-stack и инфраструктура</a:t>
            </a:r>
          </a:p>
        </p:txBody>
      </p:sp>
      <p:sp>
        <p:nvSpPr>
          <p:cNvPr id="13" name="Анастасия">
            <a:extLst xmlns:a="http://schemas.openxmlformats.org/drawingml/2006/main">
              <a:ext uri="{FF2B5EF4-FFF2-40B4-BE49-F238E27FC236}">
                <a16:creationId xmlns:a16="http://schemas.microsoft.com/office/drawing/2014/main" id="{E708458F-820D-4351-83BC-30930E2B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E2D4"/>
                </a:solidFill>
                <a:latin typeface="Arial"/>
                <a:ea typeface="Arial"/>
                <a:cs typeface="Arial"/>
              </a:rPr>
              <a:t>Анастасия</a:t>
            </a:r>
          </a:p>
        </p:txBody>
      </p:sp>
      <p:sp>
        <p:nvSpPr>
          <p:cNvPr id="14" name="Дизайн, UX и пользовательские тесты">
            <a:extLst xmlns:a="http://schemas.openxmlformats.org/drawingml/2006/main">
              <a:ext uri="{FF2B5EF4-FFF2-40B4-BE49-F238E27FC236}">
                <a16:creationId xmlns:a16="http://schemas.microsoft.com/office/drawing/2014/main" id="{D24E479B-065F-450E-BFFC-0D1E3665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Дизайн, UX и пользовательские тесты</a:t>
            </a:r>
          </a:p>
        </p:txBody>
      </p:sp>
      <p:sp>
        <p:nvSpPr>
          <p:cNvPr id="15" name="Нам нужна проверка активации, удержания, доверия и">
            <a:extLst xmlns:a="http://schemas.openxmlformats.org/drawingml/2006/main">
              <a:ext uri="{FF2B5EF4-FFF2-40B4-BE49-F238E27FC236}">
                <a16:creationId xmlns:a16="http://schemas.microsoft.com/office/drawing/2014/main" id="{4D3286E8-AFD5-40C3-A705-90CC8D9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Нам нужна проверка активации, удержания, доверия и продуктовой монетизации.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70886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32b771b8c4a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Следующий шаг">
            <a:extLst xmlns:a="http://schemas.openxmlformats.org/drawingml/2006/main">
              <a:ext uri="{FF2B5EF4-FFF2-40B4-BE49-F238E27FC236}">
                <a16:creationId xmlns:a16="http://schemas.microsoft.com/office/drawing/2014/main" id="{C118CCDC-6D4A-4A38-96F8-E9AE952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Следующий шаг</a:t>
            </a:r>
          </a:p>
        </p:txBody>
      </p:sp>
      <p:sp>
        <p:nvSpPr>
          <p:cNvPr id="3" name="Мы проверяем потребность до расширения MVP">
            <a:extLst xmlns:a="http://schemas.openxmlformats.org/drawingml/2006/main">
              <a:ext uri="{FF2B5EF4-FFF2-40B4-BE49-F238E27FC236}">
                <a16:creationId xmlns:a16="http://schemas.microsoft.com/office/drawing/2014/main" id="{58804DE3-A5D5-43E1-AAA0-57B6D99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723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Мы проверяем потребность до расширения MVP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DAB62BE3-ECC7-4087-AB37-E9372F1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246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C7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AC7D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Набираем первую&#10;волну из 15 человек">
            <a:extLst xmlns:a="http://schemas.openxmlformats.org/drawingml/2006/main">
              <a:ext uri="{FF2B5EF4-FFF2-40B4-BE49-F238E27FC236}">
                <a16:creationId xmlns:a16="http://schemas.microsoft.com/office/drawing/2014/main" id="{B66590BC-74A6-4CFF-ACF2-9999A06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63341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Набираем первую</a:t>
            </a:r>
          </a:p>
          <a:p xmlns:a="http://schemas.openxmlformats.org/drawingml/2006/main">
            <a:pPr algn="l">
              <a:defRPr sz="3450" b="1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2EB"/>
                </a:solidFill>
                <a:latin typeface="Arial"/>
                <a:ea typeface="Arial"/>
                <a:cs typeface="Arial"/>
              </a:rPr>
              <a:t>волну из 15 человек</a:t>
            </a:r>
          </a:p>
        </p:txBody>
      </p:sp>
      <p:sp>
        <p:nvSpPr>
          <p:cNvPr id="6" name="Разбираем реальные покупки.&#10;Запускаем ручной расче">
            <a:extLst xmlns:a="http://schemas.openxmlformats.org/drawingml/2006/main">
              <a:ext uri="{FF2B5EF4-FFF2-40B4-BE49-F238E27FC236}">
                <a16:creationId xmlns:a16="http://schemas.microsoft.com/office/drawing/2014/main" id="{44C21CDF-0175-4A47-8B7C-1F9967F7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Разбираем реальные покупки.</a:t>
            </a:r>
          </a:p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Запускаем ручной расчет.</a:t>
            </a:r>
          </a:p>
          <a:p xmlns:a="http://schemas.openxmlformats.org/drawingml/2006/main">
            <a:pPr algn="l">
              <a:defRPr sz="2175" b="0">
                <a:solidFill>
                  <a:srgbClr val="F5F2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2EB"/>
                </a:solidFill>
                <a:latin typeface="Arial"/>
                <a:ea typeface="Arial"/>
                <a:cs typeface="Arial"/>
              </a:rPr>
              <a:t>Фиксируем, кто возвращается и почему.</a:t>
            </a:r>
          </a:p>
        </p:txBody>
      </p:sp>
      <p:sp>
        <p:nvSpPr>
          <p:cNvPr id="7" name="После второй волны решаем,&#10;какой сценарий автомати">
            <a:extLst xmlns:a="http://schemas.openxmlformats.org/drawingml/2006/main">
              <a:ext uri="{FF2B5EF4-FFF2-40B4-BE49-F238E27FC236}">
                <a16:creationId xmlns:a16="http://schemas.microsoft.com/office/drawing/2014/main" id="{E961C782-8FB7-474D-8468-9DDCFA6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709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После второй волны решаем,</a:t>
            </a:r>
          </a:p>
          <a:p xmlns:a="http://schemas.openxmlformats.org/drawingml/2006/main">
            <a:pPr algn="l">
              <a:defRPr sz="1950" b="0">
                <a:solidFill>
                  <a:srgbClr val="8BE2D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BE2D4"/>
                </a:solidFill>
                <a:latin typeface="Arial"/>
                <a:ea typeface="Arial"/>
                <a:cs typeface="Arial"/>
              </a:rPr>
              <a:t>какой сценарий автоматизировать первым.</a:t>
            </a:r>
          </a:p>
        </p:txBody>
      </p:sp>
    </p:spTree>
    <p:extLst>
      <p:ext uri="{BB962C8B-B14F-4D97-AF65-F5344CB8AC3E}">
        <p14:creationId xmlns:p14="http://schemas.microsoft.com/office/powerpoint/2010/main" val="1572077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2026-09-12T12:35:43.3560000Z</dcterms:created>
  <dcterms:modified xsi:type="dcterms:W3CDTF">2026-09-12T12:35:43.3560000Z</dcterms:modified>
</coreProperties>
</file>