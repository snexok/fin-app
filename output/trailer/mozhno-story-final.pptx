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2b7d590fb42b5" /><Relationship Type="http://schemas.openxmlformats.org/officeDocument/2006/relationships/extended-properties" Target="/docProps/app.xml" Id="R448fa0f615bf4497" /><Relationship Type="http://schemas.openxmlformats.org/officeDocument/2006/relationships/officeDocument" Target="/ppt/presentation.xml" Id="R9a752fd266cb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911f49a8846ea"/>
  </p:sldMasterIdLst>
  <p:notesMasterIdLst>
    <p:notesMasterId xmlns:r="http://schemas.openxmlformats.org/officeDocument/2006/relationships" r:id="Rbcba6e5dcde941a5"/>
  </p:notesMasterIdLst>
  <p:sldIdLst>
    <p:sldId xmlns:r="http://schemas.openxmlformats.org/officeDocument/2006/relationships" id="256" r:id="R9e74d83fcca74515"/>
    <p:sldId xmlns:r="http://schemas.openxmlformats.org/officeDocument/2006/relationships" id="257" r:id="R38f9b11cc73a4b6d"/>
    <p:sldId xmlns:r="http://schemas.openxmlformats.org/officeDocument/2006/relationships" id="258" r:id="R785f2e4453cf4911"/>
    <p:sldId xmlns:r="http://schemas.openxmlformats.org/officeDocument/2006/relationships" id="259" r:id="R4d05b9c8079a4d8f"/>
    <p:sldId xmlns:r="http://schemas.openxmlformats.org/officeDocument/2006/relationships" id="260" r:id="Rf4daf21b544f41a8"/>
    <p:sldId xmlns:r="http://schemas.openxmlformats.org/officeDocument/2006/relationships" id="261" r:id="R03e7244bb8684d7b"/>
    <p:sldId xmlns:r="http://schemas.openxmlformats.org/officeDocument/2006/relationships" id="262" r:id="R114a9a4aaad7416a"/>
    <p:sldId xmlns:r="http://schemas.openxmlformats.org/officeDocument/2006/relationships" id="263" r:id="Ra5ef97e7757a44a5"/>
    <p:sldId xmlns:r="http://schemas.openxmlformats.org/officeDocument/2006/relationships" id="264" r:id="Rf1a9b12675aa4144"/>
    <p:sldId xmlns:r="http://schemas.openxmlformats.org/officeDocument/2006/relationships" id="265" r:id="Rbe74431b659240e6"/>
    <p:sldId xmlns:r="http://schemas.openxmlformats.org/officeDocument/2006/relationships" id="266" r:id="R4ff140603e944f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4f7d314294ec6" /><Relationship Type="http://schemas.openxmlformats.org/officeDocument/2006/relationships/slideMaster" Target="/ppt/slideMasters/slideMaster1.xml" Id="Rf1f911f49a8846ea" /><Relationship Type="http://schemas.openxmlformats.org/officeDocument/2006/relationships/notesMaster" Target="/ppt/notesMasters/notesMaster1.xml" Id="Rbcba6e5dcde941a5" /><Relationship Type="http://schemas.openxmlformats.org/officeDocument/2006/relationships/presProps" Target="/ppt/presProps.xml" Id="R0b97f750272c4924" /><Relationship Type="http://schemas.openxmlformats.org/officeDocument/2006/relationships/tableStyles" Target="/ppt/tableStyles.xml" Id="R8aee7c1956864d87" /><Relationship Type="http://schemas.openxmlformats.org/officeDocument/2006/relationships/slide" Target="/ppt/slides/slide1.xml" Id="R9e74d83fcca74515" /><Relationship Type="http://schemas.openxmlformats.org/officeDocument/2006/relationships/slide" Target="/ppt/slides/slide2.xml" Id="R38f9b11cc73a4b6d" /><Relationship Type="http://schemas.openxmlformats.org/officeDocument/2006/relationships/slide" Target="/ppt/slides/slide3.xml" Id="R785f2e4453cf4911" /><Relationship Type="http://schemas.openxmlformats.org/officeDocument/2006/relationships/slide" Target="/ppt/slides/slide4.xml" Id="R4d05b9c8079a4d8f" /><Relationship Type="http://schemas.openxmlformats.org/officeDocument/2006/relationships/slide" Target="/ppt/slides/slide5.xml" Id="Rf4daf21b544f41a8" /><Relationship Type="http://schemas.openxmlformats.org/officeDocument/2006/relationships/slide" Target="/ppt/slides/slide6.xml" Id="R03e7244bb8684d7b" /><Relationship Type="http://schemas.openxmlformats.org/officeDocument/2006/relationships/slide" Target="/ppt/slides/slide7.xml" Id="R114a9a4aaad7416a" /><Relationship Type="http://schemas.openxmlformats.org/officeDocument/2006/relationships/slide" Target="/ppt/slides/slide8.xml" Id="Ra5ef97e7757a44a5" /><Relationship Type="http://schemas.openxmlformats.org/officeDocument/2006/relationships/slide" Target="/ppt/slides/slide9.xml" Id="Rf1a9b12675aa4144" /><Relationship Type="http://schemas.openxmlformats.org/officeDocument/2006/relationships/slide" Target="/ppt/slides/slide10.xml" Id="Rbe74431b659240e6" /><Relationship Type="http://schemas.openxmlformats.org/officeDocument/2006/relationships/slide" Target="/ppt/slides/slide11.xml" Id="R4ff140603e944f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5f1942789f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61ee498b2d4bd5" /><Relationship Type="http://schemas.openxmlformats.org/officeDocument/2006/relationships/notesMaster" Target="/ppt/notesMasters/notesMaster1.xml" Id="R6f8164b7d6cb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3d976c7a4a4d81" /><Relationship Type="http://schemas.openxmlformats.org/officeDocument/2006/relationships/notesMaster" Target="/ppt/notesMasters/notesMaster1.xml" Id="R1e764e401860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f6ebce9854f7b" /><Relationship Type="http://schemas.openxmlformats.org/officeDocument/2006/relationships/notesMaster" Target="/ppt/notesMasters/notesMaster1.xml" Id="R524fd8e6028f4b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f1a96b667b4f7a" /><Relationship Type="http://schemas.openxmlformats.org/officeDocument/2006/relationships/notesMaster" Target="/ppt/notesMasters/notesMaster1.xml" Id="R953efcaffafb41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fb72e73fe74861" /><Relationship Type="http://schemas.openxmlformats.org/officeDocument/2006/relationships/notesMaster" Target="/ppt/notesMasters/notesMaster1.xml" Id="R2217098d1de84e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77e7bf1cf14d17" /><Relationship Type="http://schemas.openxmlformats.org/officeDocument/2006/relationships/notesMaster" Target="/ppt/notesMasters/notesMaster1.xml" Id="R7389f14f1de1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8b5ead2284975" /><Relationship Type="http://schemas.openxmlformats.org/officeDocument/2006/relationships/notesMaster" Target="/ppt/notesMasters/notesMaster1.xml" Id="Rb1677c081e574e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cc718adfd147cf" /><Relationship Type="http://schemas.openxmlformats.org/officeDocument/2006/relationships/notesMaster" Target="/ppt/notesMasters/notesMaster1.xml" Id="R66b2e6d86d4346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57dcaaab1949b3" /><Relationship Type="http://schemas.openxmlformats.org/officeDocument/2006/relationships/notesMaster" Target="/ppt/notesMasters/notesMaster1.xml" Id="Rc6070fa7a36a43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65032acf4d44a1" /><Relationship Type="http://schemas.openxmlformats.org/officeDocument/2006/relationships/notesMaster" Target="/ppt/notesMasters/notesMaster1.xml" Id="R7f5cd379b1174c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a54352778643ea" /><Relationship Type="http://schemas.openxmlformats.org/officeDocument/2006/relationships/notesMaster" Target="/ppt/notesMasters/notesMaster1.xml" Id="Rf295e5be34b8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Представляем историю будущего трейлера на 45 секунд. Основной сюжет занимает следующие восемь слайдов. Последние два слайда объясняют арифметику и короткую версию.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Крупный план. Медленное приближение. Уличный шум затихает, звучит одна волшебная нота. В кадре только взгляд и наушники.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Без реплик. Облет камеры вокруг героини, энергичная оригинальная музыка. Переход через отражение в витрине. Фантазию визуально отделить от реальной покупки.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Резкая склейка обратно к витрине. Музыка обрывается. Аренда вежливо звенит ключами и произносит реплику. Продукты и Подушка обозначают будущие расходы и резерв. Они доброжелательные, не злодеи.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Статичный средний план и комедийная пауза перед вопросом. Подушка устраивается рядом. В финальных видеокадрах оставить Подушку без наушников до последнего гэгa, в утвержденном эскизе они уже есть.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Камера приближается к телефону. Отдельная вставка будущего интерфейса: вопрос и подтверждение данных. Не изображать подключение банков или оплату. Расчет выполняет детерминированный модуль, LLM объясняет готовые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видео вместо художественного кадра выбора нужна читаемая вставка интерфейса. Сначала крупно 15000 рублей и период, затем1071 рублей в день. Закадровый голос: После покупки останется15000 рублей на необязательные траты до конца25сентября. Базовые расходы и резерв учтены. Снимок12сентября,14дней включительно. Доход25сентября пока не получен и не добавлен.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Музыка возвращается мягче. Камера следует рядом. Покупку героиня совершает самостоятельно, приложение не проводит платеж. Альтернатива для другого ролика: Хочу оставить больше свободы. Вернусь позже. При тех же цифрах она вправе отложить покупку.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натюрморт на столике. Титр Можно? и фраза Пойми, что останется после покупки. Статус: Концепт. Продукт в разработке. Подушка кивает, короткая музыкальная точка. Никаких несуществующих ссылок или призывов скачать готовое приложение.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Проверяемый иллюстративный расчет. Остаток120000, обязательства45000: аренда35000, кредит9000, подписка1000. Резерв30000 включает защищенную цель, повторно ее не вычитаем. Базовые будущие расходы18000. Свободно27000. После покупки за12000 остается15000. Дни12-25сентября включительно:14. floor(15000/14)=1071, остаток6рублей. Доход80000 ожидается25сентября, учитывается только после зачисления.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Короткая версия15секунд:0-3влечение,3-6Аренда,6-11вопрос и один главный результат,11-15решение и финальный титр. Дневную сумму убираем из короткой версии, чтобы зритель успел прочитать. Производственные требования и промпты: entertainment-playbook.md.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сценария: output/trailer/entertainment-playbook.md. Контекст продукта: README.md. Персонажи вымышленные. Можно? находится в разработке. Числа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0b09dd87143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e7f91bf5f04449" /><Relationship Type="http://schemas.openxmlformats.org/officeDocument/2006/relationships/slideLayout" Target="/ppt/slideLayouts/slideLayout1.xml" Id="Rdfeef9e7985442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eef9e7985442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2015bc48243a2" /><Relationship Type="http://schemas.openxmlformats.org/officeDocument/2006/relationships/image" Target="/ppt/media/image.png" Id="R72ad780360bc4222" /><Relationship Type="http://schemas.openxmlformats.org/officeDocument/2006/relationships/notesSlide" Target="/ppt/notesSlides/notesSlide1.xml" Id="Rb9db47b9ccd9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06ced7bb24520" /><Relationship Type="http://schemas.openxmlformats.org/officeDocument/2006/relationships/image" Target="/ppt/media/image2.png" Id="Re32c4deb09dd4de9" /><Relationship Type="http://schemas.openxmlformats.org/officeDocument/2006/relationships/notesSlide" Target="/ppt/notesSlides/notesSlide2.xml" Id="R6fc12d8d54a44f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24c844ffa44d4" /><Relationship Type="http://schemas.openxmlformats.org/officeDocument/2006/relationships/image" Target="/ppt/media/image3.png" Id="R4ef1969957884489" /><Relationship Type="http://schemas.openxmlformats.org/officeDocument/2006/relationships/notesSlide" Target="/ppt/notesSlides/notesSlide3.xml" Id="Rcd257e447e1747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71ad8409544eb" /><Relationship Type="http://schemas.openxmlformats.org/officeDocument/2006/relationships/image" Target="/ppt/media/image4.png" Id="Red56fe52f34245b1" /><Relationship Type="http://schemas.openxmlformats.org/officeDocument/2006/relationships/notesSlide" Target="/ppt/notesSlides/notesSlide4.xml" Id="Rb76d34d5ea7545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15b59a02b48b0" /><Relationship Type="http://schemas.openxmlformats.org/officeDocument/2006/relationships/image" Target="/ppt/media/image5.png" Id="R40792fe9c01a4872" /><Relationship Type="http://schemas.openxmlformats.org/officeDocument/2006/relationships/notesSlide" Target="/ppt/notesSlides/notesSlide5.xml" Id="Rbd9a30a0ac1842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1370ebf614430" /><Relationship Type="http://schemas.openxmlformats.org/officeDocument/2006/relationships/image" Target="/ppt/media/image6.png" Id="R393ddc9e85704bfa" /><Relationship Type="http://schemas.openxmlformats.org/officeDocument/2006/relationships/notesSlide" Target="/ppt/notesSlides/notesSlide6.xml" Id="R4dd6a4f785a848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d7642df734ce2" /><Relationship Type="http://schemas.openxmlformats.org/officeDocument/2006/relationships/image" Target="/ppt/media/image7.png" Id="R73808a34a8b7488e" /><Relationship Type="http://schemas.openxmlformats.org/officeDocument/2006/relationships/notesSlide" Target="/ppt/notesSlides/notesSlide7.xml" Id="R8946f65faee4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2200997cb4e11" /><Relationship Type="http://schemas.openxmlformats.org/officeDocument/2006/relationships/image" Target="/ppt/media/image8.png" Id="R119d9eb2e3c44c53" /><Relationship Type="http://schemas.openxmlformats.org/officeDocument/2006/relationships/notesSlide" Target="/ppt/notesSlides/notesSlide8.xml" Id="R3450d3b47bc3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f2d69d0d74582" /><Relationship Type="http://schemas.openxmlformats.org/officeDocument/2006/relationships/image" Target="/ppt/media/image9.png" Id="R3c69f2d783024bb8" /><Relationship Type="http://schemas.openxmlformats.org/officeDocument/2006/relationships/notesSlide" Target="/ppt/notesSlides/notesSlide9.xml" Id="R074b6a2f168c43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228ff84f845d3" /><Relationship Type="http://schemas.openxmlformats.org/officeDocument/2006/relationships/image" Target="/ppt/media/image10.png" Id="Rc7aef41bfa674232" /><Relationship Type="http://schemas.openxmlformats.org/officeDocument/2006/relationships/notesSlide" Target="/ppt/notesSlides/notesSlide10.xml" Id="Rf20562dbd90e48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9e677a1024f55" /><Relationship Type="http://schemas.openxmlformats.org/officeDocument/2006/relationships/notesSlide" Target="/ppt/notesSlides/notesSlide11.xml" Id="Rbd78f4e3e3aa42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58B58-A706-40DA-9F56-3413824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552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B96B4-02B7-427D-BF9D-0A84AD85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Наушники</a:t>
            </a:r>
          </a:p>
          <a:p xmlns:a="http://schemas.openxmlformats.org/drawingml/2006/main">
            <a:pPr>
              <a:defRPr sz="39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и незваные гости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7C22C-1B69-419D-B164-7C943B0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История одного решения</a:t>
            </a:r>
          </a:p>
          <a:p xmlns:a="http://schemas.openxmlformats.org/drawingml/2006/main">
            <a:pPr>
              <a:defRPr sz="2025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Сценарий аниме-трейлера на 45 секунд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D72FA-FC7A-4373-AF53-0B07D4E9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Концепт. Продукт в разработке.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d780360bc4222"/>
          <a:srcRect xmlns:a="http://schemas.openxmlformats.org/drawingml/2006/main" l="19295" t="0" r="192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666750"/>
            <a:ext cx="5010150" cy="5353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93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8C24A-0AF2-4686-A251-0CF61FCA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01 / 00:00-00:04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60BCC-FC70-407B-A6DF-71F21D1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Это любовь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4deb09dd4de9"/>
          <a:srcRect xmlns:a="http://schemas.openxmlformats.org/drawingml/2006/main" l="4943" t="0" r="49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D7186-7CA1-4C81-8356-E664551F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Мне кажется,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это любовь.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318E6-2CC3-4911-821B-FBEDD14A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Она замечает наушники в витрине.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Весь город на секунду исчезает.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AF535-4FEB-43A9-9ACF-00A1416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Камера приближается. Город затихает.</a:t>
            </a:r>
          </a:p>
        </p:txBody>
      </p:sp>
    </p:spTree>
    <p:extLst>
      <p:ext uri="{BB962C8B-B14F-4D97-AF65-F5344CB8AC3E}">
        <p14:creationId xmlns:p14="http://schemas.microsoft.com/office/powerpoint/2010/main" val="868806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2FC0F-4BD1-4244-81A5-AE715DCC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02 / 00:04-00:09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AA9D1-033D-4BDB-82F1-D0D58CA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В голове уже клип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1969957884489"/>
          <a:srcRect xmlns:a="http://schemas.openxmlformats.org/drawingml/2006/main" l="4853" t="0" r="48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348E0-63B8-41DC-941B-E831E341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И вот она уже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в собственном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аниме-опенинге.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88708-0926-4D07-8224-68D16BA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Музыка, сцена, ветер в шарфе.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Наушники пока существуют в фантазии.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8EBE-5690-4CF8-B335-7A8DD22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Музыка и фантазия. Без реплик.</a:t>
            </a:r>
          </a:p>
        </p:txBody>
      </p:sp>
    </p:spTree>
    <p:extLst>
      <p:ext uri="{BB962C8B-B14F-4D97-AF65-F5344CB8AC3E}">
        <p14:creationId xmlns:p14="http://schemas.microsoft.com/office/powerpoint/2010/main" val="1174735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11C2-EB64-418F-9D1E-E318DBB6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03 / 00:09-00:14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214A3-D2DC-483B-90F5-7866441C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Вход без приглашения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6fe52f34245b1"/>
          <a:srcRect xmlns:a="http://schemas.openxmlformats.org/drawingml/2006/main" l="600" t="0" r="6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173E0-6130-43E6-B748-AFE8BCE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А я в этом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сезоне буду?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F7AAA-A77D-45A5-91FA-D440AF16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Это Аренда. С ключами.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За ней уже стоят Продукты и Подушка.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4F393-ECBE-4C3D-9D7F-423D29DF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Музыка обрывается. Звенят ключи.</a:t>
            </a:r>
          </a:p>
        </p:txBody>
      </p:sp>
    </p:spTree>
    <p:extLst>
      <p:ext uri="{BB962C8B-B14F-4D97-AF65-F5344CB8AC3E}">
        <p14:creationId xmlns:p14="http://schemas.microsoft.com/office/powerpoint/2010/main" val="577375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901FB-AD14-4F35-B2B9-FE0F5B48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04 / 00:14-00:20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38093-6FE9-45DA-B20C-6F3C26EC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Маленькая пауза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92fe9c01a4872"/>
          <a:srcRect xmlns:a="http://schemas.openxmlformats.org/drawingml/2006/main" l="502" t="0" r="5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C57B0-5F8E-4636-90FF-EB001418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Так. А сколько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у меня свободных?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C204-FFAA-4D1E-9F75-7748537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Она смотрит на незваную компанию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и достает телефон.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CD3F2-E4EA-43DD-9874-12A8A26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Статичный кадр. Комедийная пауза.</a:t>
            </a:r>
          </a:p>
        </p:txBody>
      </p:sp>
    </p:spTree>
    <p:extLst>
      <p:ext uri="{BB962C8B-B14F-4D97-AF65-F5344CB8AC3E}">
        <p14:creationId xmlns:p14="http://schemas.microsoft.com/office/powerpoint/2010/main" val="1508847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D8FB7-091B-458D-A88F-45C8870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05 / 00:20-00:27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4CC02-48BF-4558-8BD5-4F3D774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Вопрос по делу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ddc9e85704bfa"/>
          <a:srcRect xmlns:a="http://schemas.openxmlformats.org/drawingml/2006/main" l="4128" t="0" r="4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AADA5-B281-4D7D-9C74-78A03C1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Наушники за 12 000 ₽.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Как изменится план?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1DB88-7A1F-4DDD-B983-1DB1798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Она подтверждает исходные данные.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Можно? показывает сценарий покупки.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949CD-E127-40EA-AFA4-1F678BF6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Вставка телефона. Данные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1002983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B0565-6816-45FB-A529-AFBC9E1C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06 / 00:27-00:34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8F05D-81CC-4789-B93A-793D7F9F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Вот что останется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08a34a8b7488e"/>
          <a:srcRect xmlns:a="http://schemas.openxmlformats.org/drawingml/2006/main" l="4038" t="0" r="40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CC760-968C-409B-BEED-5EF7D2B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1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90DBCE"/>
                </a:solidFill>
                <a:latin typeface="Arial"/>
                <a:ea typeface="Arial"/>
                <a:cs typeface="Arial"/>
              </a:rPr>
              <a:t>15 000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CD746-2ECF-496B-9523-95E43ECF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На необязательные траты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до конца 25 сентября.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Дневной ориентир: 1 071 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E7203-9272-4820-AC11-EDF71F98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D8D"/>
                </a:solidFill>
                <a:latin typeface="Arial"/>
                <a:ea typeface="Arial"/>
                <a:cs typeface="Arial"/>
              </a:rPr>
              <a:t>Пример расчета. Базовые расходы и резерв учтены.</a:t>
            </a:r>
          </a:p>
        </p:txBody>
      </p:sp>
    </p:spTree>
    <p:extLst>
      <p:ext uri="{BB962C8B-B14F-4D97-AF65-F5344CB8AC3E}">
        <p14:creationId xmlns:p14="http://schemas.microsoft.com/office/powerpoint/2010/main" val="2120332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F9080-B2DE-4EF3-A01A-1324D043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07 / 00:34-00:40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00377-1EFA-4D91-AE21-3BA1B241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Решение за ней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d9eb2e3c44c53"/>
          <a:srcRect xmlns:a="http://schemas.openxmlformats.org/drawingml/2006/main" l="0" t="9954" r="0" b="99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5BA65-5685-43BE-8042-82F3309F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Теперь понятно.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Беру.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D37B4-2CD6-47AA-BBE8-E0101D8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Она выходит в наушниках.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Аренда и Продукты идут по своим делам.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E3177-4B8B-4BD3-82E0-3E4557D6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Музыка возвращается. Спокойная прогулка.</a:t>
            </a:r>
          </a:p>
        </p:txBody>
      </p:sp>
    </p:spTree>
    <p:extLst>
      <p:ext uri="{BB962C8B-B14F-4D97-AF65-F5344CB8AC3E}">
        <p14:creationId xmlns:p14="http://schemas.microsoft.com/office/powerpoint/2010/main" val="1825662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D6B58-2DB6-40E5-B7BB-36A6F4A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08 / 00:40-00:45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F56DF-71AE-42FC-ACBD-B65C670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2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9f2d783024bb8"/>
          <a:srcRect xmlns:a="http://schemas.openxmlformats.org/drawingml/2006/main" l="0" t="10034" r="0" b="10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952625"/>
            <a:ext cx="5219700" cy="38004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E7A69-6018-4EEF-B494-4884837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391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Пойми, что останется</a:t>
            </a:r>
          </a:p>
          <a:p xmlns:a="http://schemas.openxmlformats.org/drawingml/2006/main">
            <a:pPr>
              <a:defRPr sz="30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после покупки.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F6F05-EEB4-4505-9DFB-90C274A6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Подушка примеряет маленькие наушники.</a:t>
            </a:r>
          </a:p>
          <a:p xmlns:a="http://schemas.openxmlformats.org/drawingml/2006/main">
            <a:pPr>
              <a:defRPr sz="18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За кадром: Тебе тоже?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F7EE-7529-4105-AE39-6DEFFEF9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BD8D"/>
                </a:solidFill>
                <a:latin typeface="Arial"/>
                <a:ea typeface="Arial"/>
                <a:cs typeface="Arial"/>
              </a:rPr>
              <a:t>Концепт. Продукт в разработке.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945674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B35B5-4702-4E5E-BE03-7AE23A95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Пример за кадром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4B36A-2DCD-4215-955C-9C4DF48F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Откуда появились 15 000 ₽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2209800"/>
          <a:ext xmlns:a="http://schemas.openxmlformats.org/drawingml/2006/main" cx="633412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047875"/>
              </a:tblGrid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Остаток сейчас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Обязательные платежи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−45 000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Резерв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Базовые будущие расходы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−18 000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Свободно до покупки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27 000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Наушники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6F1E8"/>
                          </a:solidFill>
                          <a:latin typeface="Arial"/>
                          <a:ea typeface="Arial"/>
                          <a:cs typeface="Arial"/>
                        </a:rPr>
                        <a:t>−12 000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0DBCE"/>
                          </a:solidFill>
                          <a:latin typeface="Arial"/>
                          <a:ea typeface="Arial"/>
                          <a:cs typeface="Arial"/>
                        </a:rPr>
                        <a:t>Свободно после покупки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90DBCE"/>
                          </a:solidFill>
                          <a:latin typeface="Arial"/>
                          <a:ea typeface="Arial"/>
                          <a:cs typeface="Arial"/>
                        </a:rPr>
                        <a:t>15 000 ₽</a:t>
                      </a:r>
                    </a:p>
                  </a:txBody>
                  <a:tcPr marL="91440" marR="91440" marT="45720" marB="45720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ef41bfa674232"/>
          <a:srcRect xmlns:a="http://schemas.openxmlformats.org/drawingml/2006/main" l="16071" t="0" r="160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2209800"/>
            <a:ext cx="4019550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A4567-C768-4824-B31C-1EDF0431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12-25 сентября включительно: 14 дней. 15 000 ÷ 14 = 1 071 ₽ в день, остаток 6 ₽.</a:t>
            </a:r>
          </a:p>
          <a:p xmlns:a="http://schemas.openxmlformats.org/drawingml/2006/main">
            <a:pPr>
              <a:defRPr sz="157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Иллюстративные данные. Ожидаемый доход учитываем после зачисления.</a:t>
            </a:r>
          </a:p>
        </p:txBody>
      </p:sp>
    </p:spTree>
    <p:extLst>
      <p:ext uri="{BB962C8B-B14F-4D97-AF65-F5344CB8AC3E}">
        <p14:creationId xmlns:p14="http://schemas.microsoft.com/office/powerpoint/2010/main" val="638173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C080C-A0D1-4234-AA81-E464102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Та же история за 15 секунд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D0BE2-C7D8-4F44-BD7F-F8AED8C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0DB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0DBCE"/>
                </a:solidFill>
                <a:latin typeface="Arial"/>
                <a:ea typeface="Arial"/>
                <a:cs typeface="Arial"/>
              </a:rPr>
              <a:t>Короткая версия для первого знакомства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EA78-4968-4B47-8804-7222261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D8D"/>
                </a:solidFill>
                <a:latin typeface="Arial"/>
                <a:ea typeface="Arial"/>
                <a:cs typeface="Arial"/>
              </a:rPr>
              <a:t>00:00-00:03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B7411-E5B4-4021-B0BC-770E31A1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2514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Это любовь.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C30C3-3BC9-44D6-B35B-33ED25A2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D8D"/>
                </a:solidFill>
                <a:latin typeface="Arial"/>
                <a:ea typeface="Arial"/>
                <a:cs typeface="Arial"/>
              </a:rPr>
              <a:t>00:03-00:06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FBD50-A2A5-4AC6-A5FC-CAB792A7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90850"/>
            <a:ext cx="2514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А я в этом сезоне буду?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D7222-A6D6-4AA8-9A27-3875BB44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D8D"/>
                </a:solidFill>
                <a:latin typeface="Arial"/>
                <a:ea typeface="Arial"/>
                <a:cs typeface="Arial"/>
              </a:rPr>
              <a:t>00:06-00:11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5D4CE-E00C-463E-9931-776169BE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2514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12 000 ₽ за наушники.</a:t>
            </a:r>
          </a:p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15 000 ₽ останется.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B9C00-9F5E-4EE9-99D3-78E13A9A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D8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D8D"/>
                </a:solidFill>
                <a:latin typeface="Arial"/>
                <a:ea typeface="Arial"/>
                <a:cs typeface="Arial"/>
              </a:rPr>
              <a:t>00:11-00:15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96F82-E7C3-428E-8FED-4561DB3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25146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Можно?</a:t>
            </a:r>
          </a:p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Пойми, что останется</a:t>
            </a:r>
          </a:p>
          <a:p xmlns:a="http://schemas.openxmlformats.org/drawingml/2006/main">
            <a:pPr>
              <a:defRPr sz="2025" b="1">
                <a:solidFill>
                  <a:srgbClr val="F6F1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1E8"/>
                </a:solidFill>
                <a:latin typeface="Arial"/>
                <a:ea typeface="Arial"/>
                <a:cs typeface="Arial"/>
              </a:rPr>
              <a:t>после покупки.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B0E0D-7E25-4E1C-8982-F9A549E3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В коротком ролике оставляем один финансовый результат.</a:t>
            </a:r>
          </a:p>
          <a:p xmlns:a="http://schemas.openxmlformats.org/drawingml/2006/main">
            <a:pPr>
              <a:defRPr sz="2025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Статус в финале: Концепт. Продукт в разработке.</a:t>
            </a:r>
          </a:p>
        </p:txBody>
      </p:sp>
    </p:spTree>
    <p:extLst>
      <p:ext uri="{BB962C8B-B14F-4D97-AF65-F5344CB8AC3E}">
        <p14:creationId xmlns:p14="http://schemas.microsoft.com/office/powerpoint/2010/main" val="123804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2026-09-14T08:47:23.8760000Z</dcterms:created>
  <dcterms:modified xsi:type="dcterms:W3CDTF">2026-09-14T08:47:23.8760000Z</dcterms:modified>
</coreProperties>
</file>