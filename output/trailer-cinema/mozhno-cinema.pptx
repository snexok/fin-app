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a3a1c21a404f5e" /><Relationship Type="http://schemas.openxmlformats.org/officeDocument/2006/relationships/extended-properties" Target="/docProps/app.xml" Id="R7dd8945bbb574649" /><Relationship Type="http://schemas.openxmlformats.org/officeDocument/2006/relationships/officeDocument" Target="/ppt/presentation.xml" Id="Rdcfcfcfb42d946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81a245e4c4447f"/>
  </p:sldMasterIdLst>
  <p:notesMasterIdLst>
    <p:notesMasterId xmlns:r="http://schemas.openxmlformats.org/officeDocument/2006/relationships" r:id="R5d168a56c829459a"/>
  </p:notesMasterIdLst>
  <p:sldIdLst>
    <p:sldId xmlns:r="http://schemas.openxmlformats.org/officeDocument/2006/relationships" id="256" r:id="Rb95a4e1e121b4926"/>
    <p:sldId xmlns:r="http://schemas.openxmlformats.org/officeDocument/2006/relationships" id="257" r:id="R73ea7e9a1b044a72"/>
    <p:sldId xmlns:r="http://schemas.openxmlformats.org/officeDocument/2006/relationships" id="258" r:id="R0c09172be4144c34"/>
    <p:sldId xmlns:r="http://schemas.openxmlformats.org/officeDocument/2006/relationships" id="259" r:id="R3766350069084069"/>
    <p:sldId xmlns:r="http://schemas.openxmlformats.org/officeDocument/2006/relationships" id="260" r:id="R0e742fcbedb646d0"/>
    <p:sldId xmlns:r="http://schemas.openxmlformats.org/officeDocument/2006/relationships" id="261" r:id="R31548b9a334b4e8a"/>
    <p:sldId xmlns:r="http://schemas.openxmlformats.org/officeDocument/2006/relationships" id="262" r:id="R895f36eba6cd44d0"/>
    <p:sldId xmlns:r="http://schemas.openxmlformats.org/officeDocument/2006/relationships" id="263" r:id="Reebe57d2c1b848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c45507cd17409b" /><Relationship Type="http://schemas.openxmlformats.org/officeDocument/2006/relationships/slideMaster" Target="/ppt/slideMasters/slideMaster1.xml" Id="R9681a245e4c4447f" /><Relationship Type="http://schemas.openxmlformats.org/officeDocument/2006/relationships/notesMaster" Target="/ppt/notesMasters/notesMaster1.xml" Id="R5d168a56c829459a" /><Relationship Type="http://schemas.openxmlformats.org/officeDocument/2006/relationships/presProps" Target="/ppt/presProps.xml" Id="R0ee3a127edaa4188" /><Relationship Type="http://schemas.openxmlformats.org/officeDocument/2006/relationships/tableStyles" Target="/ppt/tableStyles.xml" Id="R28d60136893c4a3f" /><Relationship Type="http://schemas.openxmlformats.org/officeDocument/2006/relationships/slide" Target="/ppt/slides/slide1.xml" Id="Rb95a4e1e121b4926" /><Relationship Type="http://schemas.openxmlformats.org/officeDocument/2006/relationships/slide" Target="/ppt/slides/slide2.xml" Id="R73ea7e9a1b044a72" /><Relationship Type="http://schemas.openxmlformats.org/officeDocument/2006/relationships/slide" Target="/ppt/slides/slide3.xml" Id="R0c09172be4144c34" /><Relationship Type="http://schemas.openxmlformats.org/officeDocument/2006/relationships/slide" Target="/ppt/slides/slide4.xml" Id="R3766350069084069" /><Relationship Type="http://schemas.openxmlformats.org/officeDocument/2006/relationships/slide" Target="/ppt/slides/slide5.xml" Id="R0e742fcbedb646d0" /><Relationship Type="http://schemas.openxmlformats.org/officeDocument/2006/relationships/slide" Target="/ppt/slides/slide6.xml" Id="R31548b9a334b4e8a" /><Relationship Type="http://schemas.openxmlformats.org/officeDocument/2006/relationships/slide" Target="/ppt/slides/slide7.xml" Id="R895f36eba6cd44d0" /><Relationship Type="http://schemas.openxmlformats.org/officeDocument/2006/relationships/slide" Target="/ppt/slides/slide8.xml" Id="Reebe57d2c1b848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e7a43f75b64f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5ad3c79eb44f3f" /><Relationship Type="http://schemas.openxmlformats.org/officeDocument/2006/relationships/notesMaster" Target="/ppt/notesMasters/notesMaster1.xml" Id="Rc2232b5dc08f44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5e2ba84d8546c7" /><Relationship Type="http://schemas.openxmlformats.org/officeDocument/2006/relationships/notesMaster" Target="/ppt/notesMasters/notesMaster1.xml" Id="Rb332d6f7505a448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663fb57b1d4b1d" /><Relationship Type="http://schemas.openxmlformats.org/officeDocument/2006/relationships/notesMaster" Target="/ppt/notesMasters/notesMaster1.xml" Id="Rdffe80f228f940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d7ba918ea6416d" /><Relationship Type="http://schemas.openxmlformats.org/officeDocument/2006/relationships/notesMaster" Target="/ppt/notesMasters/notesMaster1.xml" Id="Rfedf344f35784c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89773405f743d2" /><Relationship Type="http://schemas.openxmlformats.org/officeDocument/2006/relationships/notesMaster" Target="/ppt/notesMasters/notesMaster1.xml" Id="R165f990c8d784f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80f27f1fdb4612" /><Relationship Type="http://schemas.openxmlformats.org/officeDocument/2006/relationships/notesMaster" Target="/ppt/notesMasters/notesMaster1.xml" Id="R6cd5ae8700b349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d0336fe8c24e67" /><Relationship Type="http://schemas.openxmlformats.org/officeDocument/2006/relationships/notesMaster" Target="/ppt/notesMasters/notesMaster1.xml" Id="R5427d8d1e8024a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e43f4915ff42f6" /><Relationship Type="http://schemas.openxmlformats.org/officeDocument/2006/relationships/notesMaster" Target="/ppt/notesMasters/notesMaster1.xml" Id="R25ece3bc3bad4b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Завязка. Героиня замечает наушники в витрине. Камера медленно приближается, город затихает. Желание приятное, без стыда. Можно кратко показать ее музыкальную фантазию.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README.md и output/trailer/entertainment-playbook.md. Герои вымышленные. Продукт на стадии концепта. Telegram-бот и Mini App планируются. Финансовые расчеты выполняет отдельный детерминированный модуль, LLM понимает ввод и объясняет результат. Решение принимает пользователь. Все финансовые суммы в истории иллюстративные.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Героиня смотрит на остаток на карте и сомневается. Баланс не показывает, какая часть денег уже нужна на обязательства, базовые расходы и резерв. Достаточность средств зависит от введенных исходных данных.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README.md и output/trailer/entertainment-playbook.md. Герои вымышленные. Продукт на стадии концепта. Telegram-бот и Mini App планируются. Финансовые расчеты выполняет отдельный детерминированный модуль, LLM понимает ввод и объясняет результат. Решение принимает пользователь. Все финансовые суммы в истории иллюстративные.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Аренда с ключами, Продукты с пакетом и Подушка-резерв появляются как доброжелательные незваные гости. Аренда спрашивает: А я в этом сезоне буду? Музыка обрывается на короткую паузу. Это метафора запланированных расходов, не наказание за желание купить. На Подушке пока нет наушников.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README.md и output/trailer/entertainment-playbook.md. Герои вымышленные. Продукт на стадии концепта. Telegram-бот и Mini App планируются. Финансовые расчеты выполняет отдельный детерминированный модуль, LLM понимает ввод и объясняет результат. Решение принимает пользователь. Все финансовые суммы в истории иллюстративные.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Героиня задает вопрос и подтверждает текущий остаток, обязательства, резерв и будущие базовые расходы. Показанная история иллюстрирует планируемый сценарий. В будущем ролике добавить отдельную читаемую вставку интерфейса без банковской авторизации и без оплаты от имени продукта.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README.md и output/trailer/entertainment-playbook.md. Герои вымышленные. Продукт на стадии концепта. Telegram-бот и Mini App планируются. Финансовые расчеты выполняет отдельный детерминированный модуль, LLM понимает ввод и объясняет результат. Решение принимает пользователь. Все финансовые суммы в истории иллюстративные.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Главный результат. 120000 - 45000 обязательств - 30000 резерва - 18000 будущих базовых расходов = 27000 свободных. Покупка 12 000 ₽ оставляет 15 000 ₽. Период 12-25 сентября включительно, 14 дней. Ожидаемый доход 25 сентября не включен до зачисления. На основном слайде одна сумма; подробности на последнем слайде.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README.md и output/trailer/entertainment-playbook.md. Герои вымышленные. Продукт на стадии концепта. Telegram-бот и Mini App планируются. Финансовые расчеты выполняет отдельный детерминированный модуль, LLM понимает ввод и объясняет результат. Решение принимает пользователь. Все финансовые суммы в истории иллюстративные.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Героиня понимает последствия и сама выбирает покупку. Музыка возвращается мягче, спокойная прогулка. Приложение не платит и не запрещает. Альтернативный финал с теми же цифрами: она оставляет больше свободных денег и откладывает покупку.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README.md и output/trailer/entertainment-playbook.md. Герои вымышленные. Продукт на стадии концепта. Telegram-бот и Mini App планируются. Финансовые расчеты выполняет отдельный детерминированный модуль, LLM понимает ввод и объясняет результат. Решение принимает пользователь. Все финансовые суммы в истории иллюстративные.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Финальный кадр: наушники и телефон на столике, Подушка примеряет маленькие наушники. За кадром: Тебе тоже? Короткая музыкальная точка. Версия на 15 секунд: 0-3 желание, 3-6 появление Аренды, 6-11 вопрос и результат 15 000 ₽, 11-15 решение и финальный титр. Одна основная сумма, без дневного ориентира. Не добавлять призыв скачать несуществующий продукт.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README.md и output/trailer/entertainment-playbook.md. Герои вымышленные. Продукт на стадии концепта. Telegram-бот и Mini App планируются. Финансовые расчеты выполняет отдельный детерминированный модуль, LLM понимает ввод и объясняет результат. Решение принимает пользователь. Все финансовые суммы в истории иллюстративные.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Приложение с проверяемым расчетом. Обязательства 45 000 ₽ включают аренду 35 000 ₽, кредит 9 000 ₽ и подписку 1 000 ₽. Резерв 30 000 ₽ включает защищенную цель, повторно не вычитаем. Базовые будущие расходы 18 000 ₽ уже выделены. Дневной ориентир относится только к оставшимся необязательным тратам. Доход 80 000 ₽ ожидается 25 сентября и будет учтен после фактического зачисления.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README.md и output/trailer/entertainment-playbook.md. Герои вымышленные. Продукт на стадии концепта. Telegram-бот и Mini App планируются. Финансовые расчеты выполняет отдельный детерминированный модуль, LLM понимает ввод и объясняет результат. Решение принимает пользователь. Все финансовые суммы в истории иллюстративные.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de278c07b9441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156cc537414e0c" /><Relationship Type="http://schemas.openxmlformats.org/officeDocument/2006/relationships/slideLayout" Target="/ppt/slideLayouts/slideLayout1.xml" Id="R924e4304e42140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4e4304e42140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3e80d93ed74b91" /><Relationship Type="http://schemas.openxmlformats.org/officeDocument/2006/relationships/image" Target="/ppt/media/image.png" Id="Raaed2ce8e2b34fd9" /><Relationship Type="http://schemas.openxmlformats.org/officeDocument/2006/relationships/notesSlide" Target="/ppt/notesSlides/notesSlide1.xml" Id="R6f6d58afbbfb470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fce8bad2e49cd" /><Relationship Type="http://schemas.openxmlformats.org/officeDocument/2006/relationships/image" Target="/ppt/media/image2.png" Id="R5b12c59ca7124157" /><Relationship Type="http://schemas.openxmlformats.org/officeDocument/2006/relationships/notesSlide" Target="/ppt/notesSlides/notesSlide2.xml" Id="R545904ea76bd4e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25d915f48b4535" /><Relationship Type="http://schemas.openxmlformats.org/officeDocument/2006/relationships/image" Target="/ppt/media/image3.png" Id="Rf01bba95ad164143" /><Relationship Type="http://schemas.openxmlformats.org/officeDocument/2006/relationships/notesSlide" Target="/ppt/notesSlides/notesSlide3.xml" Id="Rbb582820ee0e4e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50a2dfbd4b48bc" /><Relationship Type="http://schemas.openxmlformats.org/officeDocument/2006/relationships/image" Target="/ppt/media/image4.png" Id="Rf7af045547b04b8d" /><Relationship Type="http://schemas.openxmlformats.org/officeDocument/2006/relationships/notesSlide" Target="/ppt/notesSlides/notesSlide4.xml" Id="Rdd7ebf17e61847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0e24a9ef4047ab" /><Relationship Type="http://schemas.openxmlformats.org/officeDocument/2006/relationships/image" Target="/ppt/media/image5.png" Id="Ra6742c02dcdd4fa0" /><Relationship Type="http://schemas.openxmlformats.org/officeDocument/2006/relationships/notesSlide" Target="/ppt/notesSlides/notesSlide5.xml" Id="R9847a1ce1b904b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a68f38162d43c7" /><Relationship Type="http://schemas.openxmlformats.org/officeDocument/2006/relationships/image" Target="/ppt/media/image6.png" Id="Rf4d8552b95a24803" /><Relationship Type="http://schemas.openxmlformats.org/officeDocument/2006/relationships/notesSlide" Target="/ppt/notesSlides/notesSlide6.xml" Id="Rcf92ca67172d4e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a4a13d6c942ab" /><Relationship Type="http://schemas.openxmlformats.org/officeDocument/2006/relationships/image" Target="/ppt/media/image7.png" Id="Rd60a2745cf924468" /><Relationship Type="http://schemas.openxmlformats.org/officeDocument/2006/relationships/notesSlide" Target="/ppt/notesSlides/notesSlide7.xml" Id="Re27d9631b14b498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635b4fcd4e46bb" /><Relationship Type="http://schemas.openxmlformats.org/officeDocument/2006/relationships/image" Target="/ppt/media/image8.png" Id="R7b6d820550f741a9" /><Relationship Type="http://schemas.openxmlformats.org/officeDocument/2006/relationships/notesSlide" Target="/ppt/notesSlides/notesSlide8.xml" Id="R12fb3c60dfc2465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ed2ce8e2b34fd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A63BFF-815E-4573-8E3F-81761A66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720">
                  <a:alpha val="80000"/>
                </a:srgbClr>
              </a:gs>
              <a:gs pos="42000">
                <a:srgbClr val="071720">
                  <a:alpha val="60000"/>
                </a:srgbClr>
              </a:gs>
              <a:gs pos="78000">
                <a:srgbClr val="071720">
                  <a:alpha val="12000"/>
                </a:srgbClr>
              </a:gs>
              <a:gs pos="100000">
                <a:srgbClr val="071720">
                  <a:alpha val="3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9865B-5E72-4680-8519-950889A2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533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A5ECE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A5ECE1"/>
                </a:solidFill>
                <a:latin typeface="Arial"/>
                <a:ea typeface="Arial"/>
                <a:cs typeface="Arial"/>
              </a:rPr>
              <a:t>Можно?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4AF3C-1EFD-44EB-96AB-0ED7D776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85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8EE"/>
                </a:solidFill>
                <a:latin typeface="Arial"/>
                <a:ea typeface="Arial"/>
                <a:cs typeface="Arial"/>
              </a:rPr>
              <a:t>Хочется купить.</a:t>
            </a:r>
          </a:p>
          <a:p xmlns:a="http://schemas.openxmlformats.org/drawingml/2006/main">
            <a:pPr>
              <a:defRPr sz="5100" b="1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8EE"/>
                </a:solidFill>
                <a:latin typeface="Arial"/>
                <a:ea typeface="Arial"/>
                <a:cs typeface="Arial"/>
              </a:rPr>
              <a:t>А можно?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858A2-E284-4276-AE4F-4ADDE0A3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1E7E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1E7E6"/>
                </a:solidFill>
                <a:latin typeface="Arial"/>
                <a:ea typeface="Arial"/>
                <a:cs typeface="Arial"/>
              </a:rPr>
              <a:t>Личный финансовый коуч. Концепт.</a:t>
            </a:r>
          </a:p>
        </p:txBody>
      </p:sp>
    </p:spTree>
    <p:extLst>
      <p:ext uri="{BB962C8B-B14F-4D97-AF65-F5344CB8AC3E}">
        <p14:creationId xmlns:p14="http://schemas.microsoft.com/office/powerpoint/2010/main" val="80016752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12c59ca712415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F21DA7-3E43-4FFA-AFD5-27927175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720">
                  <a:alpha val="80000"/>
                </a:srgbClr>
              </a:gs>
              <a:gs pos="42000">
                <a:srgbClr val="071720">
                  <a:alpha val="60000"/>
                </a:srgbClr>
              </a:gs>
              <a:gs pos="78000">
                <a:srgbClr val="071720">
                  <a:alpha val="12000"/>
                </a:srgbClr>
              </a:gs>
              <a:gs pos="100000">
                <a:srgbClr val="071720">
                  <a:alpha val="3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ADF0B9-90B4-4A46-BAFB-B9DBBE4E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81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8EE"/>
                </a:solidFill>
                <a:latin typeface="Arial"/>
                <a:ea typeface="Arial"/>
                <a:cs typeface="Arial"/>
              </a:rPr>
              <a:t>На карте деньги есть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48AD7A-1625-4B2F-823B-7C5A50FA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04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725" b="1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FFF8EE"/>
                </a:solidFill>
                <a:latin typeface="Arial"/>
                <a:ea typeface="Arial"/>
                <a:cs typeface="Arial"/>
              </a:rPr>
              <a:t>Но сколько из них</a:t>
            </a:r>
          </a:p>
          <a:p xmlns:a="http://schemas.openxmlformats.org/drawingml/2006/main">
            <a:pPr>
              <a:defRPr sz="4725" b="1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4725" b="1">
                <a:solidFill>
                  <a:srgbClr val="FFF8EE"/>
                </a:solidFill>
                <a:latin typeface="Arial"/>
                <a:ea typeface="Arial"/>
                <a:cs typeface="Arial"/>
              </a:rPr>
              <a:t>свободно?</a:t>
            </a:r>
          </a:p>
        </p:txBody>
      </p:sp>
    </p:spTree>
    <p:extLst>
      <p:ext uri="{BB962C8B-B14F-4D97-AF65-F5344CB8AC3E}">
        <p14:creationId xmlns:p14="http://schemas.microsoft.com/office/powerpoint/2010/main" val="61007034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1bba95ad16414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05FE50-536A-433F-9CC1-070E001F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720">
                  <a:alpha val="80000"/>
                </a:srgbClr>
              </a:gs>
              <a:gs pos="42000">
                <a:srgbClr val="071720">
                  <a:alpha val="60000"/>
                </a:srgbClr>
              </a:gs>
              <a:gs pos="78000">
                <a:srgbClr val="071720">
                  <a:alpha val="12000"/>
                </a:srgbClr>
              </a:gs>
              <a:gs pos="100000">
                <a:srgbClr val="071720">
                  <a:alpha val="3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C96CE-270F-4CCF-879D-1783F99A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68103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8EE"/>
                </a:solidFill>
                <a:latin typeface="Arial"/>
                <a:ea typeface="Arial"/>
                <a:cs typeface="Arial"/>
              </a:rPr>
              <a:t>У этих денег</a:t>
            </a:r>
          </a:p>
          <a:p xmlns:a="http://schemas.openxmlformats.org/drawingml/2006/main">
            <a:pPr>
              <a:defRPr sz="4800" b="1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8EE"/>
                </a:solidFill>
                <a:latin typeface="Arial"/>
                <a:ea typeface="Arial"/>
                <a:cs typeface="Arial"/>
              </a:rPr>
              <a:t>уже есть планы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4382D-EB1E-48B8-B57C-68E3D258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685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1E7E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1E7E6"/>
                </a:solidFill>
                <a:latin typeface="Arial"/>
                <a:ea typeface="Arial"/>
                <a:cs typeface="Arial"/>
              </a:rPr>
              <a:t>Аренда. Продукты. Резерв.</a:t>
            </a:r>
          </a:p>
        </p:txBody>
      </p:sp>
    </p:spTree>
    <p:extLst>
      <p:ext uri="{BB962C8B-B14F-4D97-AF65-F5344CB8AC3E}">
        <p14:creationId xmlns:p14="http://schemas.microsoft.com/office/powerpoint/2010/main" val="129964122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af045547b04b8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9E6AE-CFF7-40B5-98D8-2AF52294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720">
                  <a:alpha val="80000"/>
                </a:srgbClr>
              </a:gs>
              <a:gs pos="42000">
                <a:srgbClr val="071720">
                  <a:alpha val="60000"/>
                </a:srgbClr>
              </a:gs>
              <a:gs pos="78000">
                <a:srgbClr val="071720">
                  <a:alpha val="12000"/>
                </a:srgbClr>
              </a:gs>
              <a:gs pos="100000">
                <a:srgbClr val="071720">
                  <a:alpha val="3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51503-2BDD-4B3C-B52E-F4DD726B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6762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8EE"/>
                </a:solidFill>
                <a:latin typeface="Arial"/>
                <a:ea typeface="Arial"/>
                <a:cs typeface="Arial"/>
              </a:rPr>
              <a:t>Спрашиваем</a:t>
            </a:r>
          </a:p>
          <a:p xmlns:a="http://schemas.openxmlformats.org/drawingml/2006/main">
            <a:pPr>
              <a:defRPr sz="4800" b="1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8EE"/>
                </a:solidFill>
                <a:latin typeface="Arial"/>
                <a:ea typeface="Arial"/>
                <a:cs typeface="Arial"/>
              </a:rPr>
              <a:t>Можно?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577DA-2C8B-4EC0-8EE8-A06F42A1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704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E1E7E6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E1E7E6"/>
                </a:solidFill>
                <a:latin typeface="Arial"/>
                <a:ea typeface="Arial"/>
                <a:cs typeface="Arial"/>
              </a:rPr>
              <a:t>Наушники за 12 000 ₽.</a:t>
            </a:r>
          </a:p>
          <a:p xmlns:a="http://schemas.openxmlformats.org/drawingml/2006/main">
            <a:pPr>
              <a:defRPr sz="2475" b="0">
                <a:solidFill>
                  <a:srgbClr val="E1E7E6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E1E7E6"/>
                </a:solidFill>
                <a:latin typeface="Arial"/>
                <a:ea typeface="Arial"/>
                <a:cs typeface="Arial"/>
              </a:rPr>
              <a:t>Как изменится мой план?</a:t>
            </a:r>
          </a:p>
        </p:txBody>
      </p:sp>
    </p:spTree>
    <p:extLst>
      <p:ext uri="{BB962C8B-B14F-4D97-AF65-F5344CB8AC3E}">
        <p14:creationId xmlns:p14="http://schemas.microsoft.com/office/powerpoint/2010/main" val="39107225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742c02dcdd4fa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905B13-1390-446D-8952-F5B58646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720">
                  <a:alpha val="80000"/>
                </a:srgbClr>
              </a:gs>
              <a:gs pos="42000">
                <a:srgbClr val="071720">
                  <a:alpha val="60000"/>
                </a:srgbClr>
              </a:gs>
              <a:gs pos="78000">
                <a:srgbClr val="071720">
                  <a:alpha val="12000"/>
                </a:srgbClr>
              </a:gs>
              <a:gs pos="100000">
                <a:srgbClr val="071720">
                  <a:alpha val="3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24C8D-3512-4172-AD07-0C19B6E1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95375"/>
            <a:ext cx="700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FFF8EE"/>
                </a:solidFill>
                <a:latin typeface="Arial"/>
                <a:ea typeface="Arial"/>
                <a:cs typeface="Arial"/>
              </a:rPr>
              <a:t>После покупки останется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0E138-F523-4D59-B8B6-057ADAF8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7191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400" b="1">
                <a:solidFill>
                  <a:srgbClr val="A5ECE1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A5ECE1"/>
                </a:solidFill>
                <a:latin typeface="Arial"/>
                <a:ea typeface="Arial"/>
                <a:cs typeface="Arial"/>
              </a:rPr>
              <a:t>15 000 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04AF1-402F-43A5-B1BC-64ACAEE0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6715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FF8EE"/>
                </a:solidFill>
                <a:latin typeface="Arial"/>
                <a:ea typeface="Arial"/>
                <a:cs typeface="Arial"/>
              </a:rPr>
              <a:t>На необязательные траты</a:t>
            </a:r>
          </a:p>
          <a:p xmlns:a="http://schemas.openxmlformats.org/drawingml/2006/main">
            <a:pPr>
              <a:defRPr sz="2475" b="0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FFF8EE"/>
                </a:solidFill>
                <a:latin typeface="Arial"/>
                <a:ea typeface="Arial"/>
                <a:cs typeface="Arial"/>
              </a:rPr>
              <a:t>до конца 25 сентября.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FB4F7D-4F7A-4113-89AC-32606E64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E1E7E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1E7E6"/>
                </a:solidFill>
                <a:latin typeface="Arial"/>
                <a:ea typeface="Arial"/>
                <a:cs typeface="Arial"/>
              </a:rPr>
              <a:t>Пример расчета. Базовые расходы и резерв учтены.</a:t>
            </a:r>
          </a:p>
        </p:txBody>
      </p:sp>
    </p:spTree>
    <p:extLst>
      <p:ext uri="{BB962C8B-B14F-4D97-AF65-F5344CB8AC3E}">
        <p14:creationId xmlns:p14="http://schemas.microsoft.com/office/powerpoint/2010/main" val="47941492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8552b95a2480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9A946C-F103-4092-83E9-1FEA0009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720">
                  <a:alpha val="80000"/>
                </a:srgbClr>
              </a:gs>
              <a:gs pos="42000">
                <a:srgbClr val="071720">
                  <a:alpha val="60000"/>
                </a:srgbClr>
              </a:gs>
              <a:gs pos="78000">
                <a:srgbClr val="071720">
                  <a:alpha val="12000"/>
                </a:srgbClr>
              </a:gs>
              <a:gs pos="100000">
                <a:srgbClr val="071720">
                  <a:alpha val="3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60C1BC-ABB1-4AF0-B84F-706DC9FA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709612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8EE"/>
                </a:solidFill>
                <a:latin typeface="Arial"/>
                <a:ea typeface="Arial"/>
                <a:cs typeface="Arial"/>
              </a:rPr>
              <a:t>Решение</a:t>
            </a:r>
          </a:p>
          <a:p xmlns:a="http://schemas.openxmlformats.org/drawingml/2006/main">
            <a:pPr>
              <a:defRPr sz="4800" b="1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8EE"/>
                </a:solidFill>
                <a:latin typeface="Arial"/>
                <a:ea typeface="Arial"/>
                <a:cs typeface="Arial"/>
              </a:rPr>
              <a:t>остается за тобой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F7792F-491B-4695-A136-FB0BA084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9625"/>
            <a:ext cx="704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1E7E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1E7E6"/>
                </a:solidFill>
                <a:latin typeface="Arial"/>
                <a:ea typeface="Arial"/>
                <a:cs typeface="Arial"/>
              </a:rPr>
              <a:t>Купить сейчас или оставить</a:t>
            </a:r>
          </a:p>
          <a:p xmlns:a="http://schemas.openxmlformats.org/drawingml/2006/main">
            <a:pPr>
              <a:defRPr sz="2250" b="0">
                <a:solidFill>
                  <a:srgbClr val="E1E7E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1E7E6"/>
                </a:solidFill>
                <a:latin typeface="Arial"/>
                <a:ea typeface="Arial"/>
                <a:cs typeface="Arial"/>
              </a:rPr>
              <a:t>больше свободных денег.</a:t>
            </a:r>
          </a:p>
        </p:txBody>
      </p:sp>
    </p:spTree>
    <p:extLst>
      <p:ext uri="{BB962C8B-B14F-4D97-AF65-F5344CB8AC3E}">
        <p14:creationId xmlns:p14="http://schemas.microsoft.com/office/powerpoint/2010/main" val="138179115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0a2745cf92446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F9A0C-C17F-4CFC-8124-2BDF4B7E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720">
                  <a:alpha val="80000"/>
                </a:srgbClr>
              </a:gs>
              <a:gs pos="42000">
                <a:srgbClr val="071720">
                  <a:alpha val="60000"/>
                </a:srgbClr>
              </a:gs>
              <a:gs pos="78000">
                <a:srgbClr val="071720">
                  <a:alpha val="12000"/>
                </a:srgbClr>
              </a:gs>
              <a:gs pos="100000">
                <a:srgbClr val="071720">
                  <a:alpha val="3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4A39A-DD36-422C-ADE2-607F577A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6810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750" b="1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FFF8EE"/>
                </a:solidFill>
                <a:latin typeface="Arial"/>
                <a:ea typeface="Arial"/>
                <a:cs typeface="Arial"/>
              </a:rPr>
              <a:t>Можно?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978AE3-9C29-4E0E-A96D-1B9FE98A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7477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8EE"/>
                </a:solidFill>
                <a:latin typeface="Arial"/>
                <a:ea typeface="Arial"/>
                <a:cs typeface="Arial"/>
              </a:rPr>
              <a:t>Понятно, что останется</a:t>
            </a:r>
          </a:p>
          <a:p xmlns:a="http://schemas.openxmlformats.org/drawingml/2006/main">
            <a:pPr>
              <a:defRPr sz="4050" b="1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8EE"/>
                </a:solidFill>
                <a:latin typeface="Arial"/>
                <a:ea typeface="Arial"/>
                <a:cs typeface="Arial"/>
              </a:rPr>
              <a:t>после покупки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83C0A-0CB4-4272-97D0-6B70605F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981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1E7E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1E7E6"/>
                </a:solidFill>
                <a:latin typeface="Arial"/>
                <a:ea typeface="Arial"/>
                <a:cs typeface="Arial"/>
              </a:rPr>
              <a:t>Концепт будущего продукта</a:t>
            </a:r>
          </a:p>
        </p:txBody>
      </p:sp>
    </p:spTree>
    <p:extLst>
      <p:ext uri="{BB962C8B-B14F-4D97-AF65-F5344CB8AC3E}">
        <p14:creationId xmlns:p14="http://schemas.microsoft.com/office/powerpoint/2010/main" val="21066494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6d820550f741a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073661-F3CD-4C08-A2D7-D7455CC9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720">
                  <a:alpha val="92000"/>
                </a:srgbClr>
              </a:gs>
              <a:gs pos="42000">
                <a:srgbClr val="071720">
                  <a:alpha val="84000"/>
                </a:srgbClr>
              </a:gs>
              <a:gs pos="78000">
                <a:srgbClr val="071720">
                  <a:alpha val="12000"/>
                </a:srgbClr>
              </a:gs>
              <a:gs pos="100000">
                <a:srgbClr val="071720">
                  <a:alpha val="300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B45B82-D884-4F73-A9B7-22D5A267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8EE"/>
                </a:solidFill>
                <a:latin typeface="Arial"/>
                <a:ea typeface="Arial"/>
                <a:cs typeface="Arial"/>
              </a:rPr>
              <a:t>Как получились 15 000 ₽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72199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2552700"/>
              </a:tblGrid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FFF8EE"/>
                          </a:solidFill>
                          <a:latin typeface="Arial"/>
                          <a:ea typeface="Arial"/>
                          <a:cs typeface="Arial"/>
                        </a:rPr>
                        <a:t>Остаток на карте</a:t>
                      </a:r>
                    </a:p>
                  </a:txBody>
                  <a:tcPr marL="91440" marR="91440" marT="45720" marB="45720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025" b="0">
                          <a:solidFill>
                            <a:srgbClr val="FFF8EE"/>
                          </a:solidFill>
                          <a:latin typeface="Arial"/>
                          <a:ea typeface="Arial"/>
                          <a:cs typeface="Arial"/>
                        </a:rPr>
                        <a:t>120 000 ₽</a:t>
                      </a:r>
                    </a:p>
                  </a:txBody>
                  <a:tcPr marL="91440" marR="91440" marT="45720" marB="45720">
                    <a:noFill/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FFF8EE"/>
                          </a:solidFill>
                          <a:latin typeface="Arial"/>
                          <a:ea typeface="Arial"/>
                          <a:cs typeface="Arial"/>
                        </a:rPr>
                        <a:t>Обязательные платежи</a:t>
                      </a:r>
                    </a:p>
                  </a:txBody>
                  <a:tcPr marL="91440" marR="91440" marT="45720" marB="45720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025" b="0">
                          <a:solidFill>
                            <a:srgbClr val="FFF8EE"/>
                          </a:solidFill>
                          <a:latin typeface="Arial"/>
                          <a:ea typeface="Arial"/>
                          <a:cs typeface="Arial"/>
                        </a:rPr>
                        <a:t>−45 000 ₽</a:t>
                      </a:r>
                    </a:p>
                  </a:txBody>
                  <a:tcPr marL="91440" marR="91440" marT="45720" marB="45720">
                    <a:noFill/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FFF8EE"/>
                          </a:solidFill>
                          <a:latin typeface="Arial"/>
                          <a:ea typeface="Arial"/>
                          <a:cs typeface="Arial"/>
                        </a:rPr>
                        <a:t>Резерв</a:t>
                      </a:r>
                    </a:p>
                  </a:txBody>
                  <a:tcPr marL="91440" marR="91440" marT="45720" marB="45720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025" b="0">
                          <a:solidFill>
                            <a:srgbClr val="FFF8EE"/>
                          </a:solidFill>
                          <a:latin typeface="Arial"/>
                          <a:ea typeface="Arial"/>
                          <a:cs typeface="Arial"/>
                        </a:rPr>
                        <a:t>−30 000 ₽</a:t>
                      </a:r>
                    </a:p>
                  </a:txBody>
                  <a:tcPr marL="91440" marR="91440" marT="45720" marB="45720">
                    <a:noFill/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FFF8EE"/>
                          </a:solidFill>
                          <a:latin typeface="Arial"/>
                          <a:ea typeface="Arial"/>
                          <a:cs typeface="Arial"/>
                        </a:rPr>
                        <a:t>Базовые будущие расходы</a:t>
                      </a:r>
                    </a:p>
                  </a:txBody>
                  <a:tcPr marL="91440" marR="91440" marT="45720" marB="45720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025" b="0">
                          <a:solidFill>
                            <a:srgbClr val="FFF8EE"/>
                          </a:solidFill>
                          <a:latin typeface="Arial"/>
                          <a:ea typeface="Arial"/>
                          <a:cs typeface="Arial"/>
                        </a:rPr>
                        <a:t>−18 000 ₽</a:t>
                      </a:r>
                    </a:p>
                  </a:txBody>
                  <a:tcPr marL="91440" marR="91440" marT="45720" marB="45720">
                    <a:noFill/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FFF8EE"/>
                          </a:solidFill>
                          <a:latin typeface="Arial"/>
                          <a:ea typeface="Arial"/>
                          <a:cs typeface="Arial"/>
                        </a:rPr>
                        <a:t>Свободно до покупки</a:t>
                      </a:r>
                    </a:p>
                  </a:txBody>
                  <a:tcPr marL="91440" marR="91440" marT="45720" marB="45720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025" b="0">
                          <a:solidFill>
                            <a:srgbClr val="FFF8EE"/>
                          </a:solidFill>
                          <a:latin typeface="Arial"/>
                          <a:ea typeface="Arial"/>
                          <a:cs typeface="Arial"/>
                        </a:rPr>
                        <a:t>27 000 ₽</a:t>
                      </a:r>
                    </a:p>
                  </a:txBody>
                  <a:tcPr marL="91440" marR="91440" marT="45720" marB="45720">
                    <a:noFill/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2025" b="0">
                          <a:solidFill>
                            <a:srgbClr val="FFF8EE"/>
                          </a:solidFill>
                          <a:latin typeface="Arial"/>
                          <a:ea typeface="Arial"/>
                          <a:cs typeface="Arial"/>
                        </a:rPr>
                        <a:t>Наушники</a:t>
                      </a:r>
                    </a:p>
                  </a:txBody>
                  <a:tcPr marL="91440" marR="91440" marT="45720" marB="45720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025" b="0">
                          <a:solidFill>
                            <a:srgbClr val="FFF8EE"/>
                          </a:solidFill>
                          <a:latin typeface="Arial"/>
                          <a:ea typeface="Arial"/>
                          <a:cs typeface="Arial"/>
                        </a:rPr>
                        <a:t>−12 000 ₽</a:t>
                      </a:r>
                    </a:p>
                  </a:txBody>
                  <a:tcPr marL="91440" marR="91440" marT="45720" marB="45720">
                    <a:noFill/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2025" b="1">
                          <a:solidFill>
                            <a:srgbClr val="A5ECE1"/>
                          </a:solidFill>
                          <a:latin typeface="Arial"/>
                          <a:ea typeface="Arial"/>
                          <a:cs typeface="Arial"/>
                        </a:rPr>
                        <a:t>После покупки</a:t>
                      </a:r>
                    </a:p>
                  </a:txBody>
                  <a:tcPr marL="91440" marR="91440" marT="45720" marB="45720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025" b="1">
                          <a:solidFill>
                            <a:srgbClr val="A5ECE1"/>
                          </a:solidFill>
                          <a:latin typeface="Arial"/>
                          <a:ea typeface="Arial"/>
                          <a:cs typeface="Arial"/>
                        </a:rPr>
                        <a:t>15 000 ₽</a:t>
                      </a:r>
                    </a:p>
                  </a:txBody>
                  <a:tcPr marL="91440" marR="91440" marT="45720" marB="45720">
                    <a:noFill/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60008F-A5A1-4BD6-9302-EACF9FF4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334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8EE"/>
                </a:solidFill>
                <a:latin typeface="Arial"/>
                <a:ea typeface="Arial"/>
                <a:cs typeface="Arial"/>
              </a:rPr>
              <a:t>12-25 сентября: 14 дней. На необязательные траты:</a:t>
            </a:r>
          </a:p>
          <a:p xmlns:a="http://schemas.openxmlformats.org/drawingml/2006/main">
            <a:pPr>
              <a:defRPr sz="1800" b="0">
                <a:solidFill>
                  <a:srgbClr val="FFF8E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8EE"/>
                </a:solidFill>
                <a:latin typeface="Arial"/>
                <a:ea typeface="Arial"/>
                <a:cs typeface="Arial"/>
              </a:rPr>
              <a:t>1 071 ₽ в день и остаток 6 ₽.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4838A2-724B-48D8-8C78-84448C3C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81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1E7E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1E7E6"/>
                </a:solidFill>
                <a:latin typeface="Arial"/>
                <a:ea typeface="Arial"/>
                <a:cs typeface="Arial"/>
              </a:rPr>
              <a:t>Иллюстративные данные. Ожидаемый доход учтем после зачисления.</a:t>
            </a:r>
          </a:p>
        </p:txBody>
      </p:sp>
    </p:spTree>
    <p:extLst>
      <p:ext uri="{BB962C8B-B14F-4D97-AF65-F5344CB8AC3E}">
        <p14:creationId xmlns:p14="http://schemas.microsoft.com/office/powerpoint/2010/main" val="4735629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2026-09-14T17:16:28.1360000Z</dcterms:created>
  <dcterms:modified xsi:type="dcterms:W3CDTF">2026-09-14T17:16:28.1360000Z</dcterms:modified>
</coreProperties>
</file>